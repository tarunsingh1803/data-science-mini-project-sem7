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imes New Roman MT" charset="1" panose="02030502070405020303"/>
      <p:regular r:id="rId17"/>
    </p:embeddedFont>
    <p:embeddedFont>
      <p:font typeface="Times New Roman MT Bold" charset="1" panose="02030802070405020303"/>
      <p:regular r:id="rId18"/>
    </p:embeddedFont>
    <p:embeddedFont>
      <p:font typeface="Calibri (MS) Bold" charset="1" panose="020F0702030404030204"/>
      <p:regular r:id="rId19"/>
    </p:embeddedFont>
    <p:embeddedFont>
      <p:font typeface="Calibri (MS)" charset="1" panose="020F050202020403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21.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48" y="-411160"/>
            <a:ext cx="18857666" cy="10021885"/>
          </a:xfrm>
          <a:custGeom>
            <a:avLst/>
            <a:gdLst/>
            <a:ahLst/>
            <a:cxnLst/>
            <a:rect r="r" b="b" t="t" l="l"/>
            <a:pathLst>
              <a:path h="10021885" w="18857666">
                <a:moveTo>
                  <a:pt x="0" y="0"/>
                </a:moveTo>
                <a:lnTo>
                  <a:pt x="18857666" y="0"/>
                </a:lnTo>
                <a:lnTo>
                  <a:pt x="18857666" y="10021885"/>
                </a:lnTo>
                <a:lnTo>
                  <a:pt x="0" y="10021885"/>
                </a:lnTo>
                <a:lnTo>
                  <a:pt x="0" y="0"/>
                </a:lnTo>
                <a:close/>
              </a:path>
            </a:pathLst>
          </a:custGeom>
          <a:blipFill>
            <a:blip r:embed="rId2">
              <a:extLst>
                <a:ext uri="{96DAC541-7B7A-43D3-8B79-37D633B846F1}">
                  <asvg:svgBlip xmlns:asvg="http://schemas.microsoft.com/office/drawing/2016/SVG/main" r:embed="rId3"/>
                </a:ext>
              </a:extLst>
            </a:blip>
            <a:stretch>
              <a:fillRect l="0" t="-30" r="0" b="-30"/>
            </a:stretch>
          </a:blipFill>
        </p:spPr>
      </p:sp>
      <p:grpSp>
        <p:nvGrpSpPr>
          <p:cNvPr name="Group 3" id="3"/>
          <p:cNvGrpSpPr/>
          <p:nvPr/>
        </p:nvGrpSpPr>
        <p:grpSpPr>
          <a:xfrm rot="0">
            <a:off x="6348" y="4172619"/>
            <a:ext cx="18288000" cy="1615821"/>
            <a:chOff x="0" y="0"/>
            <a:chExt cx="24384000" cy="2154428"/>
          </a:xfrm>
        </p:grpSpPr>
        <p:sp>
          <p:nvSpPr>
            <p:cNvPr name="Freeform 4" id="4"/>
            <p:cNvSpPr/>
            <p:nvPr/>
          </p:nvSpPr>
          <p:spPr>
            <a:xfrm flipH="false" flipV="false" rot="0">
              <a:off x="0" y="0"/>
              <a:ext cx="24384000" cy="2154428"/>
            </a:xfrm>
            <a:custGeom>
              <a:avLst/>
              <a:gdLst/>
              <a:ahLst/>
              <a:cxnLst/>
              <a:rect r="r" b="b" t="t" l="l"/>
              <a:pathLst>
                <a:path h="2154428" w="24384000">
                  <a:moveTo>
                    <a:pt x="0" y="0"/>
                  </a:moveTo>
                  <a:lnTo>
                    <a:pt x="24384000" y="0"/>
                  </a:lnTo>
                  <a:lnTo>
                    <a:pt x="24384000" y="2154428"/>
                  </a:lnTo>
                  <a:lnTo>
                    <a:pt x="0" y="2154428"/>
                  </a:lnTo>
                  <a:close/>
                </a:path>
              </a:pathLst>
            </a:custGeom>
            <a:solidFill>
              <a:srgbClr val="C00000"/>
            </a:solidFill>
          </p:spPr>
        </p:sp>
      </p:grpSp>
      <p:grpSp>
        <p:nvGrpSpPr>
          <p:cNvPr name="Group 5" id="5"/>
          <p:cNvGrpSpPr/>
          <p:nvPr/>
        </p:nvGrpSpPr>
        <p:grpSpPr>
          <a:xfrm rot="0">
            <a:off x="2873747" y="4172619"/>
            <a:ext cx="11964326" cy="2376284"/>
            <a:chOff x="0" y="0"/>
            <a:chExt cx="15952434" cy="3168379"/>
          </a:xfrm>
        </p:grpSpPr>
        <p:sp>
          <p:nvSpPr>
            <p:cNvPr name="Freeform 6" id="6"/>
            <p:cNvSpPr/>
            <p:nvPr/>
          </p:nvSpPr>
          <p:spPr>
            <a:xfrm flipH="false" flipV="false" rot="0">
              <a:off x="0" y="0"/>
              <a:ext cx="15952434" cy="3168379"/>
            </a:xfrm>
            <a:custGeom>
              <a:avLst/>
              <a:gdLst/>
              <a:ahLst/>
              <a:cxnLst/>
              <a:rect r="r" b="b" t="t" l="l"/>
              <a:pathLst>
                <a:path h="3168379" w="15952434">
                  <a:moveTo>
                    <a:pt x="0" y="0"/>
                  </a:moveTo>
                  <a:lnTo>
                    <a:pt x="15952434" y="0"/>
                  </a:lnTo>
                  <a:lnTo>
                    <a:pt x="15952434" y="3168379"/>
                  </a:lnTo>
                  <a:lnTo>
                    <a:pt x="0" y="3168379"/>
                  </a:lnTo>
                  <a:close/>
                </a:path>
              </a:pathLst>
            </a:custGeom>
            <a:solidFill>
              <a:srgbClr val="000000">
                <a:alpha val="0"/>
              </a:srgbClr>
            </a:solidFill>
          </p:spPr>
        </p:sp>
        <p:sp>
          <p:nvSpPr>
            <p:cNvPr name="TextBox 7" id="7"/>
            <p:cNvSpPr txBox="true"/>
            <p:nvPr/>
          </p:nvSpPr>
          <p:spPr>
            <a:xfrm>
              <a:off x="0" y="-95250"/>
              <a:ext cx="15952434" cy="3263629"/>
            </a:xfrm>
            <a:prstGeom prst="rect">
              <a:avLst/>
            </a:prstGeom>
          </p:spPr>
          <p:txBody>
            <a:bodyPr anchor="ctr" rtlCol="false" tIns="0" lIns="0" bIns="0" rIns="0"/>
            <a:lstStyle/>
            <a:p>
              <a:pPr algn="ctr">
                <a:lnSpc>
                  <a:spcPts val="5759"/>
                </a:lnSpc>
              </a:pPr>
              <a:r>
                <a:rPr lang="en-US" sz="4800">
                  <a:solidFill>
                    <a:srgbClr val="000000"/>
                  </a:solidFill>
                  <a:latin typeface="Times New Roman MT"/>
                  <a:ea typeface="Times New Roman MT"/>
                  <a:cs typeface="Times New Roman MT"/>
                  <a:sym typeface="Times New Roman MT"/>
                </a:rPr>
                <a:t>Analysis and Forecasting of Commodity Exports to European Countries</a:t>
              </a:r>
            </a:p>
            <a:p>
              <a:pPr algn="ctr">
                <a:lnSpc>
                  <a:spcPts val="5755"/>
                </a:lnSpc>
              </a:pPr>
            </a:p>
          </p:txBody>
        </p:sp>
      </p:grpSp>
      <p:grpSp>
        <p:nvGrpSpPr>
          <p:cNvPr name="Group 8" id="8"/>
          <p:cNvGrpSpPr/>
          <p:nvPr/>
        </p:nvGrpSpPr>
        <p:grpSpPr>
          <a:xfrm rot="0">
            <a:off x="4197950" y="8394762"/>
            <a:ext cx="9869732" cy="639722"/>
            <a:chOff x="0" y="0"/>
            <a:chExt cx="13159643" cy="852963"/>
          </a:xfrm>
        </p:grpSpPr>
        <p:sp>
          <p:nvSpPr>
            <p:cNvPr name="Freeform 9" id="9"/>
            <p:cNvSpPr/>
            <p:nvPr/>
          </p:nvSpPr>
          <p:spPr>
            <a:xfrm flipH="false" flipV="false" rot="0">
              <a:off x="0" y="0"/>
              <a:ext cx="13159643" cy="852963"/>
            </a:xfrm>
            <a:custGeom>
              <a:avLst/>
              <a:gdLst/>
              <a:ahLst/>
              <a:cxnLst/>
              <a:rect r="r" b="b" t="t" l="l"/>
              <a:pathLst>
                <a:path h="852963" w="13159643">
                  <a:moveTo>
                    <a:pt x="0" y="0"/>
                  </a:moveTo>
                  <a:lnTo>
                    <a:pt x="13159643" y="0"/>
                  </a:lnTo>
                  <a:lnTo>
                    <a:pt x="13159643" y="852963"/>
                  </a:lnTo>
                  <a:lnTo>
                    <a:pt x="0" y="852963"/>
                  </a:lnTo>
                  <a:close/>
                </a:path>
              </a:pathLst>
            </a:custGeom>
            <a:solidFill>
              <a:srgbClr val="000000">
                <a:alpha val="0"/>
              </a:srgbClr>
            </a:solidFill>
          </p:spPr>
        </p:sp>
        <p:sp>
          <p:nvSpPr>
            <p:cNvPr name="TextBox 10" id="10"/>
            <p:cNvSpPr txBox="true"/>
            <p:nvPr/>
          </p:nvSpPr>
          <p:spPr>
            <a:xfrm>
              <a:off x="0" y="-57150"/>
              <a:ext cx="13159643" cy="910113"/>
            </a:xfrm>
            <a:prstGeom prst="rect">
              <a:avLst/>
            </a:prstGeom>
          </p:spPr>
          <p:txBody>
            <a:bodyPr anchor="ctr" rtlCol="false" tIns="0" lIns="0" bIns="0" rIns="0"/>
            <a:lstStyle/>
            <a:p>
              <a:pPr algn="ctr">
                <a:lnSpc>
                  <a:spcPts val="3240"/>
                </a:lnSpc>
              </a:pPr>
              <a:r>
                <a:rPr lang="en-US" sz="2700" b="true">
                  <a:solidFill>
                    <a:srgbClr val="000099"/>
                  </a:solidFill>
                  <a:latin typeface="Times New Roman MT Bold"/>
                  <a:ea typeface="Times New Roman MT Bold"/>
                  <a:cs typeface="Times New Roman MT Bold"/>
                  <a:sym typeface="Times New Roman MT Bold"/>
                </a:rPr>
                <a:t>Symbiosis Institute of Technology, Nagpur Campus</a:t>
              </a:r>
            </a:p>
          </p:txBody>
        </p:sp>
      </p:grpSp>
      <p:grpSp>
        <p:nvGrpSpPr>
          <p:cNvPr name="Group 11" id="11"/>
          <p:cNvGrpSpPr/>
          <p:nvPr/>
        </p:nvGrpSpPr>
        <p:grpSpPr>
          <a:xfrm rot="0">
            <a:off x="2525153" y="2158587"/>
            <a:ext cx="13215326" cy="1794957"/>
            <a:chOff x="0" y="0"/>
            <a:chExt cx="17620435" cy="2393276"/>
          </a:xfrm>
        </p:grpSpPr>
        <p:sp>
          <p:nvSpPr>
            <p:cNvPr name="Freeform 12" id="12"/>
            <p:cNvSpPr/>
            <p:nvPr/>
          </p:nvSpPr>
          <p:spPr>
            <a:xfrm flipH="false" flipV="false" rot="0">
              <a:off x="0" y="0"/>
              <a:ext cx="17620435" cy="2393276"/>
            </a:xfrm>
            <a:custGeom>
              <a:avLst/>
              <a:gdLst/>
              <a:ahLst/>
              <a:cxnLst/>
              <a:rect r="r" b="b" t="t" l="l"/>
              <a:pathLst>
                <a:path h="2393276" w="17620435">
                  <a:moveTo>
                    <a:pt x="0" y="0"/>
                  </a:moveTo>
                  <a:lnTo>
                    <a:pt x="17620435" y="0"/>
                  </a:lnTo>
                  <a:lnTo>
                    <a:pt x="17620435" y="2393276"/>
                  </a:lnTo>
                  <a:lnTo>
                    <a:pt x="0" y="2393276"/>
                  </a:lnTo>
                  <a:close/>
                </a:path>
              </a:pathLst>
            </a:custGeom>
            <a:solidFill>
              <a:srgbClr val="000000">
                <a:alpha val="0"/>
              </a:srgbClr>
            </a:solidFill>
          </p:spPr>
        </p:sp>
        <p:sp>
          <p:nvSpPr>
            <p:cNvPr name="TextBox 13" id="13"/>
            <p:cNvSpPr txBox="true"/>
            <p:nvPr/>
          </p:nvSpPr>
          <p:spPr>
            <a:xfrm>
              <a:off x="0" y="-180975"/>
              <a:ext cx="17620435" cy="2574251"/>
            </a:xfrm>
            <a:prstGeom prst="rect">
              <a:avLst/>
            </a:prstGeom>
          </p:spPr>
          <p:txBody>
            <a:bodyPr anchor="ctr" rtlCol="false" tIns="0" lIns="0" bIns="0" rIns="0"/>
            <a:lstStyle/>
            <a:p>
              <a:pPr algn="ctr">
                <a:lnSpc>
                  <a:spcPts val="10800"/>
                </a:lnSpc>
              </a:pPr>
              <a:r>
                <a:rPr lang="en-US" sz="9000">
                  <a:solidFill>
                    <a:srgbClr val="000099"/>
                  </a:solidFill>
                  <a:latin typeface="Times New Roman MT"/>
                  <a:ea typeface="Times New Roman MT"/>
                  <a:cs typeface="Times New Roman MT"/>
                  <a:sym typeface="Times New Roman MT"/>
                </a:rPr>
                <a:t>Data Science Mini Project</a:t>
              </a:r>
            </a:p>
          </p:txBody>
        </p:sp>
      </p:grpSp>
      <p:grpSp>
        <p:nvGrpSpPr>
          <p:cNvPr name="Group 14" id="14"/>
          <p:cNvGrpSpPr/>
          <p:nvPr/>
        </p:nvGrpSpPr>
        <p:grpSpPr>
          <a:xfrm rot="0">
            <a:off x="3449925" y="5772303"/>
            <a:ext cx="11388148" cy="2546836"/>
            <a:chOff x="0" y="0"/>
            <a:chExt cx="15184197" cy="3395782"/>
          </a:xfrm>
        </p:grpSpPr>
        <p:sp>
          <p:nvSpPr>
            <p:cNvPr name="Freeform 15" id="15"/>
            <p:cNvSpPr/>
            <p:nvPr/>
          </p:nvSpPr>
          <p:spPr>
            <a:xfrm flipH="false" flipV="false" rot="0">
              <a:off x="0" y="0"/>
              <a:ext cx="15184197" cy="3395781"/>
            </a:xfrm>
            <a:custGeom>
              <a:avLst/>
              <a:gdLst/>
              <a:ahLst/>
              <a:cxnLst/>
              <a:rect r="r" b="b" t="t" l="l"/>
              <a:pathLst>
                <a:path h="3395781" w="15184197">
                  <a:moveTo>
                    <a:pt x="0" y="0"/>
                  </a:moveTo>
                  <a:lnTo>
                    <a:pt x="15184197" y="0"/>
                  </a:lnTo>
                  <a:lnTo>
                    <a:pt x="15184197" y="3395781"/>
                  </a:lnTo>
                  <a:lnTo>
                    <a:pt x="0" y="3395781"/>
                  </a:lnTo>
                  <a:close/>
                </a:path>
              </a:pathLst>
            </a:custGeom>
            <a:solidFill>
              <a:srgbClr val="000000">
                <a:alpha val="0"/>
              </a:srgbClr>
            </a:solidFill>
          </p:spPr>
        </p:sp>
        <p:sp>
          <p:nvSpPr>
            <p:cNvPr name="TextBox 16" id="16"/>
            <p:cNvSpPr txBox="true"/>
            <p:nvPr/>
          </p:nvSpPr>
          <p:spPr>
            <a:xfrm>
              <a:off x="0" y="-66675"/>
              <a:ext cx="15184197" cy="3462457"/>
            </a:xfrm>
            <a:prstGeom prst="rect">
              <a:avLst/>
            </a:prstGeom>
          </p:spPr>
          <p:txBody>
            <a:bodyPr anchor="ctr" rtlCol="false" tIns="0" lIns="0" bIns="0" rIns="0"/>
            <a:lstStyle/>
            <a:p>
              <a:pPr algn="ctr">
                <a:lnSpc>
                  <a:spcPts val="3600"/>
                </a:lnSpc>
              </a:pPr>
              <a:r>
                <a:rPr lang="en-US" sz="3000">
                  <a:solidFill>
                    <a:srgbClr val="000099"/>
                  </a:solidFill>
                  <a:latin typeface="Times New Roman MT"/>
                  <a:ea typeface="Times New Roman MT"/>
                  <a:cs typeface="Times New Roman MT"/>
                  <a:sym typeface="Times New Roman MT"/>
                </a:rPr>
                <a:t>Tarun Kumar Singh</a:t>
              </a:r>
            </a:p>
            <a:p>
              <a:pPr algn="ctr">
                <a:lnSpc>
                  <a:spcPts val="3600"/>
                </a:lnSpc>
              </a:pPr>
              <a:r>
                <a:rPr lang="en-US" sz="3000">
                  <a:solidFill>
                    <a:srgbClr val="000099"/>
                  </a:solidFill>
                  <a:latin typeface="Times New Roman MT"/>
                  <a:ea typeface="Times New Roman MT"/>
                  <a:cs typeface="Times New Roman MT"/>
                  <a:sym typeface="Times New Roman MT"/>
                </a:rPr>
                <a:t>Sem: 7ᵗʰ </a:t>
              </a:r>
            </a:p>
            <a:p>
              <a:pPr algn="ctr">
                <a:lnSpc>
                  <a:spcPts val="3600"/>
                </a:lnSpc>
              </a:pPr>
              <a:r>
                <a:rPr lang="en-US" sz="3000" b="true">
                  <a:solidFill>
                    <a:srgbClr val="000099"/>
                  </a:solidFill>
                  <a:latin typeface="Times New Roman MT Bold"/>
                  <a:ea typeface="Times New Roman MT Bold"/>
                  <a:cs typeface="Times New Roman MT Bold"/>
                  <a:sym typeface="Times New Roman MT Bold"/>
                </a:rPr>
                <a:t>Under the guidance of </a:t>
              </a:r>
            </a:p>
            <a:p>
              <a:pPr algn="ctr">
                <a:lnSpc>
                  <a:spcPts val="3600"/>
                </a:lnSpc>
              </a:pPr>
              <a:r>
                <a:rPr lang="en-US" sz="3000">
                  <a:solidFill>
                    <a:srgbClr val="000099"/>
                  </a:solidFill>
                  <a:latin typeface="Times New Roman MT"/>
                  <a:ea typeface="Times New Roman MT"/>
                  <a:cs typeface="Times New Roman MT"/>
                  <a:sym typeface="Times New Roman MT"/>
                </a:rPr>
                <a:t>Dr. Piyush Chauhan</a:t>
              </a:r>
            </a:p>
          </p:txBody>
        </p:sp>
      </p:grpSp>
      <p:sp>
        <p:nvSpPr>
          <p:cNvPr name="Freeform 17" id="17"/>
          <p:cNvSpPr/>
          <p:nvPr/>
        </p:nvSpPr>
        <p:spPr>
          <a:xfrm flipH="false" flipV="false" rot="0">
            <a:off x="6348" y="9574476"/>
            <a:ext cx="18288000" cy="714375"/>
          </a:xfrm>
          <a:custGeom>
            <a:avLst/>
            <a:gdLst/>
            <a:ahLst/>
            <a:cxnLst/>
            <a:rect r="r" b="b" t="t" l="l"/>
            <a:pathLst>
              <a:path h="714375" w="18288000">
                <a:moveTo>
                  <a:pt x="0" y="0"/>
                </a:moveTo>
                <a:lnTo>
                  <a:pt x="18288000" y="0"/>
                </a:lnTo>
                <a:lnTo>
                  <a:pt x="18288000" y="714375"/>
                </a:lnTo>
                <a:lnTo>
                  <a:pt x="0" y="714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676380" y="9735822"/>
            <a:ext cx="6371483" cy="410199"/>
          </a:xfrm>
          <a:custGeom>
            <a:avLst/>
            <a:gdLst/>
            <a:ahLst/>
            <a:cxnLst/>
            <a:rect r="r" b="b" t="t" l="l"/>
            <a:pathLst>
              <a:path h="410199" w="6371483">
                <a:moveTo>
                  <a:pt x="0" y="0"/>
                </a:moveTo>
                <a:lnTo>
                  <a:pt x="6371483" y="0"/>
                </a:lnTo>
                <a:lnTo>
                  <a:pt x="6371483" y="410199"/>
                </a:lnTo>
                <a:lnTo>
                  <a:pt x="0" y="410199"/>
                </a:lnTo>
                <a:lnTo>
                  <a:pt x="0" y="0"/>
                </a:lnTo>
                <a:close/>
              </a:path>
            </a:pathLst>
          </a:custGeom>
          <a:blipFill>
            <a:blip r:embed="rId6">
              <a:extLst>
                <a:ext uri="{96DAC541-7B7A-43D3-8B79-37D633B846F1}">
                  <asvg:svgBlip xmlns:asvg="http://schemas.microsoft.com/office/drawing/2016/SVG/main" r:embed="rId7"/>
                </a:ext>
              </a:extLst>
            </a:blip>
            <a:stretch>
              <a:fillRect l="0" t="-1079" r="0" b="-1079"/>
            </a:stretch>
          </a:blipFill>
        </p:spPr>
      </p:sp>
      <p:grpSp>
        <p:nvGrpSpPr>
          <p:cNvPr name="Group 19" id="19"/>
          <p:cNvGrpSpPr/>
          <p:nvPr/>
        </p:nvGrpSpPr>
        <p:grpSpPr>
          <a:xfrm rot="0">
            <a:off x="243781" y="285334"/>
            <a:ext cx="10319004" cy="1499616"/>
            <a:chOff x="0" y="0"/>
            <a:chExt cx="13758672" cy="1999488"/>
          </a:xfrm>
        </p:grpSpPr>
        <p:sp>
          <p:nvSpPr>
            <p:cNvPr name="Freeform 20" id="20"/>
            <p:cNvSpPr/>
            <p:nvPr/>
          </p:nvSpPr>
          <p:spPr>
            <a:xfrm flipH="false" flipV="false" rot="0">
              <a:off x="0" y="0"/>
              <a:ext cx="13758672" cy="1999488"/>
            </a:xfrm>
            <a:custGeom>
              <a:avLst/>
              <a:gdLst/>
              <a:ahLst/>
              <a:cxnLst/>
              <a:rect r="r" b="b" t="t" l="l"/>
              <a:pathLst>
                <a:path h="1999488" w="13758672">
                  <a:moveTo>
                    <a:pt x="0" y="0"/>
                  </a:moveTo>
                  <a:lnTo>
                    <a:pt x="13758672" y="0"/>
                  </a:lnTo>
                  <a:lnTo>
                    <a:pt x="13758672" y="1999488"/>
                  </a:lnTo>
                  <a:lnTo>
                    <a:pt x="0" y="1999488"/>
                  </a:lnTo>
                  <a:lnTo>
                    <a:pt x="0" y="0"/>
                  </a:lnTo>
                  <a:close/>
                </a:path>
              </a:pathLst>
            </a:custGeom>
            <a:blipFill>
              <a:blip r:embed="rId8"/>
              <a:stretch>
                <a:fillRect l="0" t="-21" r="0" b="-21"/>
              </a:stretch>
            </a:blipFill>
          </p:spPr>
        </p:sp>
      </p:grpSp>
      <p:sp>
        <p:nvSpPr>
          <p:cNvPr name="Freeform 21" id="21"/>
          <p:cNvSpPr/>
          <p:nvPr/>
        </p:nvSpPr>
        <p:spPr>
          <a:xfrm flipH="false" flipV="false" rot="0">
            <a:off x="7213568" y="9563672"/>
            <a:ext cx="11073289" cy="716947"/>
          </a:xfrm>
          <a:custGeom>
            <a:avLst/>
            <a:gdLst/>
            <a:ahLst/>
            <a:cxnLst/>
            <a:rect r="r" b="b" t="t" l="l"/>
            <a:pathLst>
              <a:path h="716947" w="11073289">
                <a:moveTo>
                  <a:pt x="0" y="0"/>
                </a:moveTo>
                <a:lnTo>
                  <a:pt x="11073289" y="0"/>
                </a:lnTo>
                <a:lnTo>
                  <a:pt x="11073289" y="716947"/>
                </a:lnTo>
                <a:lnTo>
                  <a:pt x="0" y="716947"/>
                </a:lnTo>
                <a:lnTo>
                  <a:pt x="0" y="0"/>
                </a:lnTo>
                <a:close/>
              </a:path>
            </a:pathLst>
          </a:custGeom>
          <a:blipFill>
            <a:blip r:embed="rId9">
              <a:extLst>
                <a:ext uri="{96DAC541-7B7A-43D3-8B79-37D633B846F1}">
                  <asvg:svgBlip xmlns:asvg="http://schemas.microsoft.com/office/drawing/2016/SVG/main" r:embed="rId10"/>
                </a:ext>
              </a:extLst>
            </a:blip>
            <a:stretch>
              <a:fillRect l="0" t="-465" r="0" b="-465"/>
            </a:stretch>
          </a:blipFill>
        </p:spPr>
      </p:sp>
      <p:grpSp>
        <p:nvGrpSpPr>
          <p:cNvPr name="Group 22" id="22"/>
          <p:cNvGrpSpPr/>
          <p:nvPr/>
        </p:nvGrpSpPr>
        <p:grpSpPr>
          <a:xfrm rot="0">
            <a:off x="7306938" y="9595467"/>
            <a:ext cx="10922221" cy="626174"/>
            <a:chOff x="0" y="0"/>
            <a:chExt cx="14562962" cy="834898"/>
          </a:xfrm>
        </p:grpSpPr>
        <p:sp>
          <p:nvSpPr>
            <p:cNvPr name="Freeform 23" id="23"/>
            <p:cNvSpPr/>
            <p:nvPr/>
          </p:nvSpPr>
          <p:spPr>
            <a:xfrm flipH="false" flipV="false" rot="0">
              <a:off x="0" y="0"/>
              <a:ext cx="14562962" cy="834898"/>
            </a:xfrm>
            <a:custGeom>
              <a:avLst/>
              <a:gdLst/>
              <a:ahLst/>
              <a:cxnLst/>
              <a:rect r="r" b="b" t="t" l="l"/>
              <a:pathLst>
                <a:path h="834898" w="14562962">
                  <a:moveTo>
                    <a:pt x="0" y="0"/>
                  </a:moveTo>
                  <a:lnTo>
                    <a:pt x="14562962" y="0"/>
                  </a:lnTo>
                  <a:lnTo>
                    <a:pt x="14562962" y="834898"/>
                  </a:lnTo>
                  <a:lnTo>
                    <a:pt x="0" y="834898"/>
                  </a:lnTo>
                  <a:lnTo>
                    <a:pt x="0" y="0"/>
                  </a:lnTo>
                  <a:close/>
                </a:path>
              </a:pathLst>
            </a:custGeom>
            <a:blipFill>
              <a:blip r:embed="rId11"/>
              <a:stretch>
                <a:fillRect l="-235" t="0" r="-235" b="0"/>
              </a:stretch>
            </a:blipFill>
          </p:spPr>
        </p:sp>
      </p:grpSp>
      <p:grpSp>
        <p:nvGrpSpPr>
          <p:cNvPr name="Group 24" id="24"/>
          <p:cNvGrpSpPr/>
          <p:nvPr/>
        </p:nvGrpSpPr>
        <p:grpSpPr>
          <a:xfrm rot="0">
            <a:off x="13887450" y="9610725"/>
            <a:ext cx="4114800" cy="604838"/>
            <a:chOff x="0" y="0"/>
            <a:chExt cx="5486400" cy="806451"/>
          </a:xfrm>
        </p:grpSpPr>
        <p:sp>
          <p:nvSpPr>
            <p:cNvPr name="Freeform 25" id="25"/>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26" id="26"/>
            <p:cNvSpPr txBox="true"/>
            <p:nvPr/>
          </p:nvSpPr>
          <p:spPr>
            <a:xfrm>
              <a:off x="0" y="-38100"/>
              <a:ext cx="5486400" cy="844551"/>
            </a:xfrm>
            <a:prstGeom prst="rect">
              <a:avLst/>
            </a:prstGeom>
          </p:spPr>
          <p:txBody>
            <a:bodyPr anchor="ctr" rtlCol="false" tIns="0" lIns="0" bIns="0" rIns="0"/>
            <a:lstStyle/>
            <a:p>
              <a:pPr algn="r">
                <a:lnSpc>
                  <a:spcPts val="2160"/>
                </a:lnSpc>
              </a:pPr>
              <a:r>
                <a:rPr lang="en-US" sz="1800" b="true">
                  <a:solidFill>
                    <a:srgbClr val="FFFFFF"/>
                  </a:solidFill>
                  <a:latin typeface="Calibri (MS) Bold"/>
                  <a:ea typeface="Calibri (MS) Bold"/>
                  <a:cs typeface="Calibri (MS) Bold"/>
                  <a:sym typeface="Calibri (MS) Bold"/>
                </a:rPr>
                <a:t>1</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48" y="9574476"/>
            <a:ext cx="18288000" cy="714375"/>
          </a:xfrm>
          <a:custGeom>
            <a:avLst/>
            <a:gdLst/>
            <a:ahLst/>
            <a:cxnLst/>
            <a:rect r="r" b="b" t="t" l="l"/>
            <a:pathLst>
              <a:path h="714375" w="18288000">
                <a:moveTo>
                  <a:pt x="0" y="0"/>
                </a:moveTo>
                <a:lnTo>
                  <a:pt x="18288000" y="0"/>
                </a:lnTo>
                <a:lnTo>
                  <a:pt x="18288000" y="714375"/>
                </a:lnTo>
                <a:lnTo>
                  <a:pt x="0" y="714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9372" y="9735822"/>
            <a:ext cx="6371483" cy="410199"/>
          </a:xfrm>
          <a:custGeom>
            <a:avLst/>
            <a:gdLst/>
            <a:ahLst/>
            <a:cxnLst/>
            <a:rect r="r" b="b" t="t" l="l"/>
            <a:pathLst>
              <a:path h="410199" w="6371483">
                <a:moveTo>
                  <a:pt x="0" y="0"/>
                </a:moveTo>
                <a:lnTo>
                  <a:pt x="6371483" y="0"/>
                </a:lnTo>
                <a:lnTo>
                  <a:pt x="6371483" y="410199"/>
                </a:lnTo>
                <a:lnTo>
                  <a:pt x="0" y="410199"/>
                </a:lnTo>
                <a:lnTo>
                  <a:pt x="0" y="0"/>
                </a:lnTo>
                <a:close/>
              </a:path>
            </a:pathLst>
          </a:custGeom>
          <a:blipFill>
            <a:blip r:embed="rId4">
              <a:extLst>
                <a:ext uri="{96DAC541-7B7A-43D3-8B79-37D633B846F1}">
                  <asvg:svgBlip xmlns:asvg="http://schemas.microsoft.com/office/drawing/2016/SVG/main" r:embed="rId5"/>
                </a:ext>
              </a:extLst>
            </a:blip>
            <a:stretch>
              <a:fillRect l="0" t="-1079" r="0" b="-1079"/>
            </a:stretch>
          </a:blipFill>
        </p:spPr>
      </p:sp>
      <p:sp>
        <p:nvSpPr>
          <p:cNvPr name="Freeform 4" id="4"/>
          <p:cNvSpPr/>
          <p:nvPr/>
        </p:nvSpPr>
        <p:spPr>
          <a:xfrm flipH="false" flipV="false" rot="0">
            <a:off x="0" y="-144661"/>
            <a:ext cx="18288000" cy="9719137"/>
          </a:xfrm>
          <a:custGeom>
            <a:avLst/>
            <a:gdLst/>
            <a:ahLst/>
            <a:cxnLst/>
            <a:rect r="r" b="b" t="t" l="l"/>
            <a:pathLst>
              <a:path h="9719137" w="18288000">
                <a:moveTo>
                  <a:pt x="0" y="0"/>
                </a:moveTo>
                <a:lnTo>
                  <a:pt x="18288000" y="0"/>
                </a:lnTo>
                <a:lnTo>
                  <a:pt x="18288000" y="9719137"/>
                </a:lnTo>
                <a:lnTo>
                  <a:pt x="0" y="9719137"/>
                </a:lnTo>
                <a:lnTo>
                  <a:pt x="0" y="0"/>
                </a:lnTo>
                <a:close/>
              </a:path>
            </a:pathLst>
          </a:custGeom>
          <a:blipFill>
            <a:blip r:embed="rId6">
              <a:extLst>
                <a:ext uri="{96DAC541-7B7A-43D3-8B79-37D633B846F1}">
                  <asvg:svgBlip xmlns:asvg="http://schemas.microsoft.com/office/drawing/2016/SVG/main" r:embed="rId7"/>
                </a:ext>
              </a:extLst>
            </a:blip>
            <a:stretch>
              <a:fillRect l="0" t="-30" r="0" b="-30"/>
            </a:stretch>
          </a:blipFill>
        </p:spPr>
      </p:sp>
      <p:grpSp>
        <p:nvGrpSpPr>
          <p:cNvPr name="Group 5" id="5"/>
          <p:cNvGrpSpPr/>
          <p:nvPr/>
        </p:nvGrpSpPr>
        <p:grpSpPr>
          <a:xfrm rot="0">
            <a:off x="1207499" y="1304982"/>
            <a:ext cx="9473751" cy="1586657"/>
            <a:chOff x="0" y="0"/>
            <a:chExt cx="12631668" cy="2115543"/>
          </a:xfrm>
        </p:grpSpPr>
        <p:sp>
          <p:nvSpPr>
            <p:cNvPr name="Freeform 6" id="6"/>
            <p:cNvSpPr/>
            <p:nvPr/>
          </p:nvSpPr>
          <p:spPr>
            <a:xfrm flipH="false" flipV="false" rot="0">
              <a:off x="0" y="0"/>
              <a:ext cx="12631668" cy="2115543"/>
            </a:xfrm>
            <a:custGeom>
              <a:avLst/>
              <a:gdLst/>
              <a:ahLst/>
              <a:cxnLst/>
              <a:rect r="r" b="b" t="t" l="l"/>
              <a:pathLst>
                <a:path h="2115543" w="12631668">
                  <a:moveTo>
                    <a:pt x="0" y="0"/>
                  </a:moveTo>
                  <a:lnTo>
                    <a:pt x="12631668" y="0"/>
                  </a:lnTo>
                  <a:lnTo>
                    <a:pt x="12631668" y="2115543"/>
                  </a:lnTo>
                  <a:lnTo>
                    <a:pt x="0" y="2115543"/>
                  </a:lnTo>
                  <a:close/>
                </a:path>
              </a:pathLst>
            </a:custGeom>
            <a:solidFill>
              <a:srgbClr val="000000">
                <a:alpha val="0"/>
              </a:srgbClr>
            </a:solidFill>
          </p:spPr>
        </p:sp>
        <p:sp>
          <p:nvSpPr>
            <p:cNvPr name="TextBox 7" id="7"/>
            <p:cNvSpPr txBox="true"/>
            <p:nvPr/>
          </p:nvSpPr>
          <p:spPr>
            <a:xfrm>
              <a:off x="0" y="-95250"/>
              <a:ext cx="12631668" cy="2210793"/>
            </a:xfrm>
            <a:prstGeom prst="rect">
              <a:avLst/>
            </a:prstGeom>
          </p:spPr>
          <p:txBody>
            <a:bodyPr anchor="ctr" rtlCol="false" tIns="0" lIns="0" bIns="0" rIns="0"/>
            <a:lstStyle/>
            <a:p>
              <a:pPr algn="just">
                <a:lnSpc>
                  <a:spcPts val="5514"/>
                </a:lnSpc>
              </a:pPr>
              <a:r>
                <a:rPr lang="en-US" sz="4599" b="true">
                  <a:solidFill>
                    <a:srgbClr val="00B050"/>
                  </a:solidFill>
                  <a:latin typeface="Times New Roman MT Bold"/>
                  <a:ea typeface="Times New Roman MT Bold"/>
                  <a:cs typeface="Times New Roman MT Bold"/>
                  <a:sym typeface="Times New Roman MT Bold"/>
                </a:rPr>
                <a:t>Understanding the Bus</a:t>
              </a:r>
              <a:r>
                <a:rPr lang="en-US" sz="4599" b="true">
                  <a:solidFill>
                    <a:srgbClr val="00B050"/>
                  </a:solidFill>
                  <a:latin typeface="Times New Roman MT Bold"/>
                  <a:ea typeface="Times New Roman MT Bold"/>
                  <a:cs typeface="Times New Roman MT Bold"/>
                  <a:sym typeface="Times New Roman MT Bold"/>
                </a:rPr>
                <a:t>iness Problem</a:t>
              </a:r>
            </a:p>
            <a:p>
              <a:pPr algn="just">
                <a:lnSpc>
                  <a:spcPts val="5517"/>
                </a:lnSpc>
              </a:pPr>
            </a:p>
          </p:txBody>
        </p:sp>
      </p:grpSp>
      <p:grpSp>
        <p:nvGrpSpPr>
          <p:cNvPr name="Group 8" id="8"/>
          <p:cNvGrpSpPr/>
          <p:nvPr/>
        </p:nvGrpSpPr>
        <p:grpSpPr>
          <a:xfrm rot="0">
            <a:off x="44380" y="52412"/>
            <a:ext cx="2014538" cy="862584"/>
            <a:chOff x="0" y="0"/>
            <a:chExt cx="2686050" cy="1150112"/>
          </a:xfrm>
        </p:grpSpPr>
        <p:sp>
          <p:nvSpPr>
            <p:cNvPr name="Freeform 9" id="9"/>
            <p:cNvSpPr/>
            <p:nvPr/>
          </p:nvSpPr>
          <p:spPr>
            <a:xfrm flipH="false" flipV="false" rot="0">
              <a:off x="0" y="0"/>
              <a:ext cx="2686050" cy="1150112"/>
            </a:xfrm>
            <a:custGeom>
              <a:avLst/>
              <a:gdLst/>
              <a:ahLst/>
              <a:cxnLst/>
              <a:rect r="r" b="b" t="t" l="l"/>
              <a:pathLst>
                <a:path h="1150112" w="2686050">
                  <a:moveTo>
                    <a:pt x="0" y="0"/>
                  </a:moveTo>
                  <a:lnTo>
                    <a:pt x="2686050" y="0"/>
                  </a:lnTo>
                  <a:lnTo>
                    <a:pt x="2686050" y="1150112"/>
                  </a:lnTo>
                  <a:lnTo>
                    <a:pt x="0" y="1150112"/>
                  </a:lnTo>
                  <a:lnTo>
                    <a:pt x="0" y="0"/>
                  </a:lnTo>
                  <a:close/>
                </a:path>
              </a:pathLst>
            </a:custGeom>
            <a:blipFill>
              <a:blip r:embed="rId8"/>
              <a:stretch>
                <a:fillRect l="0" t="-45" r="0" b="-45"/>
              </a:stretch>
            </a:blipFill>
          </p:spPr>
        </p:sp>
      </p:grpSp>
      <p:grpSp>
        <p:nvGrpSpPr>
          <p:cNvPr name="Group 10" id="10"/>
          <p:cNvGrpSpPr/>
          <p:nvPr/>
        </p:nvGrpSpPr>
        <p:grpSpPr>
          <a:xfrm rot="0">
            <a:off x="13887450" y="9610725"/>
            <a:ext cx="4114800" cy="604838"/>
            <a:chOff x="0" y="0"/>
            <a:chExt cx="5486400" cy="806451"/>
          </a:xfrm>
        </p:grpSpPr>
        <p:sp>
          <p:nvSpPr>
            <p:cNvPr name="Freeform 11" id="11"/>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12" id="12"/>
            <p:cNvSpPr txBox="true"/>
            <p:nvPr/>
          </p:nvSpPr>
          <p:spPr>
            <a:xfrm>
              <a:off x="0" y="-38100"/>
              <a:ext cx="5486400" cy="844551"/>
            </a:xfrm>
            <a:prstGeom prst="rect">
              <a:avLst/>
            </a:prstGeom>
          </p:spPr>
          <p:txBody>
            <a:bodyPr anchor="ctr" rtlCol="false" tIns="0" lIns="0" bIns="0" rIns="0"/>
            <a:lstStyle/>
            <a:p>
              <a:pPr algn="r">
                <a:lnSpc>
                  <a:spcPts val="2160"/>
                </a:lnSpc>
              </a:pPr>
              <a:r>
                <a:rPr lang="en-US" sz="1800" b="true">
                  <a:solidFill>
                    <a:srgbClr val="FFFFFF"/>
                  </a:solidFill>
                  <a:latin typeface="Calibri (MS) Bold"/>
                  <a:ea typeface="Calibri (MS) Bold"/>
                  <a:cs typeface="Calibri (MS) Bold"/>
                  <a:sym typeface="Calibri (MS) Bold"/>
                </a:rPr>
                <a:t>2</a:t>
              </a:r>
            </a:p>
          </p:txBody>
        </p:sp>
      </p:grpSp>
      <p:sp>
        <p:nvSpPr>
          <p:cNvPr name="TextBox 13" id="13"/>
          <p:cNvSpPr txBox="true"/>
          <p:nvPr/>
        </p:nvSpPr>
        <p:spPr>
          <a:xfrm rot="0">
            <a:off x="1207499" y="2504764"/>
            <a:ext cx="15535010" cy="5619712"/>
          </a:xfrm>
          <a:prstGeom prst="rect">
            <a:avLst/>
          </a:prstGeom>
        </p:spPr>
        <p:txBody>
          <a:bodyPr anchor="t" rtlCol="false" tIns="0" lIns="0" bIns="0" rIns="0">
            <a:spAutoFit/>
          </a:bodyPr>
          <a:lstStyle/>
          <a:p>
            <a:pPr algn="just">
              <a:lnSpc>
                <a:spcPts val="3956"/>
              </a:lnSpc>
            </a:pPr>
            <a:r>
              <a:rPr lang="en-US" sz="3297">
                <a:solidFill>
                  <a:srgbClr val="000000"/>
                </a:solidFill>
                <a:latin typeface="Times New Roman MT"/>
                <a:ea typeface="Times New Roman MT"/>
                <a:cs typeface="Times New Roman MT"/>
                <a:sym typeface="Times New Roman MT"/>
              </a:rPr>
              <a:t>A</a:t>
            </a:r>
            <a:r>
              <a:rPr lang="en-US" sz="3297">
                <a:solidFill>
                  <a:srgbClr val="000000"/>
                </a:solidFill>
                <a:latin typeface="Times New Roman MT"/>
                <a:ea typeface="Times New Roman MT"/>
                <a:cs typeface="Times New Roman MT"/>
                <a:sym typeface="Times New Roman MT"/>
              </a:rPr>
              <a:t>nalyzing complex export patterns across European markets requires turning massive raw trade data into meaningful insights. Europe is a key player in global trade, with strong demand across various commodity sectors.</a:t>
            </a:r>
          </a:p>
          <a:p>
            <a:pPr algn="just">
              <a:lnSpc>
                <a:spcPts val="3956"/>
              </a:lnSpc>
            </a:pPr>
          </a:p>
          <a:p>
            <a:pPr algn="just">
              <a:lnSpc>
                <a:spcPts val="3956"/>
              </a:lnSpc>
            </a:pPr>
            <a:r>
              <a:rPr lang="en-US" sz="3297">
                <a:solidFill>
                  <a:srgbClr val="000000"/>
                </a:solidFill>
                <a:latin typeface="Times New Roman MT"/>
                <a:ea typeface="Times New Roman MT"/>
                <a:cs typeface="Times New Roman MT"/>
                <a:sym typeface="Times New Roman MT"/>
              </a:rPr>
              <a:t>This study explores export trends to European countries — focusing on product categories, transaction volumes, and monetary flows — to identify key revenue drivers, price variations, and temporal trade patterns.</a:t>
            </a:r>
          </a:p>
          <a:p>
            <a:pPr algn="just">
              <a:lnSpc>
                <a:spcPts val="3956"/>
              </a:lnSpc>
            </a:pPr>
          </a:p>
          <a:p>
            <a:pPr algn="just">
              <a:lnSpc>
                <a:spcPts val="3956"/>
              </a:lnSpc>
            </a:pPr>
            <a:r>
              <a:rPr lang="en-US" sz="3297">
                <a:solidFill>
                  <a:srgbClr val="000000"/>
                </a:solidFill>
                <a:latin typeface="Times New Roman MT"/>
                <a:ea typeface="Times New Roman MT"/>
                <a:cs typeface="Times New Roman MT"/>
                <a:sym typeface="Times New Roman MT"/>
              </a:rPr>
              <a:t>These insights will form the foundation for predictive models that forecast future export volumes and values.</a:t>
            </a:r>
          </a:p>
          <a:p>
            <a:pPr algn="just">
              <a:lnSpc>
                <a:spcPts val="479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581" y="-207727"/>
            <a:ext cx="18288000" cy="9719137"/>
          </a:xfrm>
          <a:custGeom>
            <a:avLst/>
            <a:gdLst/>
            <a:ahLst/>
            <a:cxnLst/>
            <a:rect r="r" b="b" t="t" l="l"/>
            <a:pathLst>
              <a:path h="9719137" w="18288000">
                <a:moveTo>
                  <a:pt x="0" y="0"/>
                </a:moveTo>
                <a:lnTo>
                  <a:pt x="18288000" y="0"/>
                </a:lnTo>
                <a:lnTo>
                  <a:pt x="18288000" y="9719137"/>
                </a:lnTo>
                <a:lnTo>
                  <a:pt x="0" y="9719137"/>
                </a:lnTo>
                <a:lnTo>
                  <a:pt x="0" y="0"/>
                </a:lnTo>
                <a:close/>
              </a:path>
            </a:pathLst>
          </a:custGeom>
          <a:blipFill>
            <a:blip r:embed="rId2">
              <a:extLst>
                <a:ext uri="{96DAC541-7B7A-43D3-8B79-37D633B846F1}">
                  <asvg:svgBlip xmlns:asvg="http://schemas.microsoft.com/office/drawing/2016/SVG/main" r:embed="rId3"/>
                </a:ext>
              </a:extLst>
            </a:blip>
            <a:stretch>
              <a:fillRect l="0" t="-30" r="0" b="-30"/>
            </a:stretch>
          </a:blipFill>
        </p:spPr>
      </p:sp>
      <p:sp>
        <p:nvSpPr>
          <p:cNvPr name="Freeform 3" id="3"/>
          <p:cNvSpPr/>
          <p:nvPr/>
        </p:nvSpPr>
        <p:spPr>
          <a:xfrm flipH="false" flipV="false" rot="0">
            <a:off x="6348" y="9574476"/>
            <a:ext cx="18288000" cy="714375"/>
          </a:xfrm>
          <a:custGeom>
            <a:avLst/>
            <a:gdLst/>
            <a:ahLst/>
            <a:cxnLst/>
            <a:rect r="r" b="b" t="t" l="l"/>
            <a:pathLst>
              <a:path h="714375" w="18288000">
                <a:moveTo>
                  <a:pt x="0" y="0"/>
                </a:moveTo>
                <a:lnTo>
                  <a:pt x="18288000" y="0"/>
                </a:lnTo>
                <a:lnTo>
                  <a:pt x="18288000" y="714375"/>
                </a:lnTo>
                <a:lnTo>
                  <a:pt x="0" y="714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9372" y="9735822"/>
            <a:ext cx="6371483" cy="410199"/>
          </a:xfrm>
          <a:custGeom>
            <a:avLst/>
            <a:gdLst/>
            <a:ahLst/>
            <a:cxnLst/>
            <a:rect r="r" b="b" t="t" l="l"/>
            <a:pathLst>
              <a:path h="410199" w="6371483">
                <a:moveTo>
                  <a:pt x="0" y="0"/>
                </a:moveTo>
                <a:lnTo>
                  <a:pt x="6371483" y="0"/>
                </a:lnTo>
                <a:lnTo>
                  <a:pt x="6371483" y="410199"/>
                </a:lnTo>
                <a:lnTo>
                  <a:pt x="0" y="410199"/>
                </a:lnTo>
                <a:lnTo>
                  <a:pt x="0" y="0"/>
                </a:lnTo>
                <a:close/>
              </a:path>
            </a:pathLst>
          </a:custGeom>
          <a:blipFill>
            <a:blip r:embed="rId6">
              <a:extLst>
                <a:ext uri="{96DAC541-7B7A-43D3-8B79-37D633B846F1}">
                  <asvg:svgBlip xmlns:asvg="http://schemas.microsoft.com/office/drawing/2016/SVG/main" r:embed="rId7"/>
                </a:ext>
              </a:extLst>
            </a:blip>
            <a:stretch>
              <a:fillRect l="0" t="-1079" r="0" b="-1079"/>
            </a:stretch>
          </a:blipFill>
        </p:spPr>
      </p:sp>
      <p:grpSp>
        <p:nvGrpSpPr>
          <p:cNvPr name="Group 5" id="5"/>
          <p:cNvGrpSpPr/>
          <p:nvPr/>
        </p:nvGrpSpPr>
        <p:grpSpPr>
          <a:xfrm rot="0">
            <a:off x="1051649" y="1028700"/>
            <a:ext cx="11284668" cy="1586657"/>
            <a:chOff x="0" y="0"/>
            <a:chExt cx="15046224" cy="2115543"/>
          </a:xfrm>
        </p:grpSpPr>
        <p:sp>
          <p:nvSpPr>
            <p:cNvPr name="Freeform 6" id="6"/>
            <p:cNvSpPr/>
            <p:nvPr/>
          </p:nvSpPr>
          <p:spPr>
            <a:xfrm flipH="false" flipV="false" rot="0">
              <a:off x="0" y="0"/>
              <a:ext cx="15046224" cy="2115543"/>
            </a:xfrm>
            <a:custGeom>
              <a:avLst/>
              <a:gdLst/>
              <a:ahLst/>
              <a:cxnLst/>
              <a:rect r="r" b="b" t="t" l="l"/>
              <a:pathLst>
                <a:path h="2115543" w="15046224">
                  <a:moveTo>
                    <a:pt x="0" y="0"/>
                  </a:moveTo>
                  <a:lnTo>
                    <a:pt x="15046224" y="0"/>
                  </a:lnTo>
                  <a:lnTo>
                    <a:pt x="15046224" y="2115543"/>
                  </a:lnTo>
                  <a:lnTo>
                    <a:pt x="0" y="2115543"/>
                  </a:lnTo>
                  <a:close/>
                </a:path>
              </a:pathLst>
            </a:custGeom>
            <a:solidFill>
              <a:srgbClr val="000000">
                <a:alpha val="0"/>
              </a:srgbClr>
            </a:solidFill>
          </p:spPr>
        </p:sp>
        <p:sp>
          <p:nvSpPr>
            <p:cNvPr name="TextBox 7" id="7"/>
            <p:cNvSpPr txBox="true"/>
            <p:nvPr/>
          </p:nvSpPr>
          <p:spPr>
            <a:xfrm>
              <a:off x="0" y="-95250"/>
              <a:ext cx="15046224" cy="2210793"/>
            </a:xfrm>
            <a:prstGeom prst="rect">
              <a:avLst/>
            </a:prstGeom>
          </p:spPr>
          <p:txBody>
            <a:bodyPr anchor="ctr" rtlCol="false" tIns="0" lIns="0" bIns="0" rIns="0"/>
            <a:lstStyle/>
            <a:p>
              <a:pPr algn="l">
                <a:lnSpc>
                  <a:spcPts val="5514"/>
                </a:lnSpc>
              </a:pPr>
              <a:r>
                <a:rPr lang="en-US" sz="4599" b="true">
                  <a:solidFill>
                    <a:srgbClr val="B74A00"/>
                  </a:solidFill>
                  <a:latin typeface="Times New Roman MT Bold"/>
                  <a:ea typeface="Times New Roman MT Bold"/>
                  <a:cs typeface="Times New Roman MT Bold"/>
                  <a:sym typeface="Times New Roman MT Bold"/>
                </a:rPr>
                <a:t>Data Source</a:t>
              </a:r>
            </a:p>
            <a:p>
              <a:pPr algn="l">
                <a:lnSpc>
                  <a:spcPts val="5517"/>
                </a:lnSpc>
              </a:pPr>
            </a:p>
          </p:txBody>
        </p:sp>
      </p:grpSp>
      <p:grpSp>
        <p:nvGrpSpPr>
          <p:cNvPr name="Group 8" id="8"/>
          <p:cNvGrpSpPr/>
          <p:nvPr/>
        </p:nvGrpSpPr>
        <p:grpSpPr>
          <a:xfrm rot="0">
            <a:off x="44380" y="52412"/>
            <a:ext cx="2014538" cy="862584"/>
            <a:chOff x="0" y="0"/>
            <a:chExt cx="2686050" cy="1150112"/>
          </a:xfrm>
        </p:grpSpPr>
        <p:sp>
          <p:nvSpPr>
            <p:cNvPr name="Freeform 9" id="9"/>
            <p:cNvSpPr/>
            <p:nvPr/>
          </p:nvSpPr>
          <p:spPr>
            <a:xfrm flipH="false" flipV="false" rot="0">
              <a:off x="0" y="0"/>
              <a:ext cx="2686050" cy="1150112"/>
            </a:xfrm>
            <a:custGeom>
              <a:avLst/>
              <a:gdLst/>
              <a:ahLst/>
              <a:cxnLst/>
              <a:rect r="r" b="b" t="t" l="l"/>
              <a:pathLst>
                <a:path h="1150112" w="2686050">
                  <a:moveTo>
                    <a:pt x="0" y="0"/>
                  </a:moveTo>
                  <a:lnTo>
                    <a:pt x="2686050" y="0"/>
                  </a:lnTo>
                  <a:lnTo>
                    <a:pt x="2686050" y="1150112"/>
                  </a:lnTo>
                  <a:lnTo>
                    <a:pt x="0" y="1150112"/>
                  </a:lnTo>
                  <a:lnTo>
                    <a:pt x="0" y="0"/>
                  </a:lnTo>
                  <a:close/>
                </a:path>
              </a:pathLst>
            </a:custGeom>
            <a:blipFill>
              <a:blip r:embed="rId8"/>
              <a:stretch>
                <a:fillRect l="0" t="-45" r="0" b="-45"/>
              </a:stretch>
            </a:blipFill>
          </p:spPr>
        </p:sp>
      </p:grpSp>
      <p:grpSp>
        <p:nvGrpSpPr>
          <p:cNvPr name="Group 10" id="10"/>
          <p:cNvGrpSpPr/>
          <p:nvPr/>
        </p:nvGrpSpPr>
        <p:grpSpPr>
          <a:xfrm rot="0">
            <a:off x="13887450" y="9610725"/>
            <a:ext cx="4114800" cy="604838"/>
            <a:chOff x="0" y="0"/>
            <a:chExt cx="5486400" cy="806451"/>
          </a:xfrm>
        </p:grpSpPr>
        <p:sp>
          <p:nvSpPr>
            <p:cNvPr name="Freeform 11" id="11"/>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12" id="12"/>
            <p:cNvSpPr txBox="true"/>
            <p:nvPr/>
          </p:nvSpPr>
          <p:spPr>
            <a:xfrm>
              <a:off x="0" y="-38100"/>
              <a:ext cx="5486400" cy="844551"/>
            </a:xfrm>
            <a:prstGeom prst="rect">
              <a:avLst/>
            </a:prstGeom>
          </p:spPr>
          <p:txBody>
            <a:bodyPr anchor="ctr" rtlCol="false" tIns="0" lIns="0" bIns="0" rIns="0"/>
            <a:lstStyle/>
            <a:p>
              <a:pPr algn="r">
                <a:lnSpc>
                  <a:spcPts val="2160"/>
                </a:lnSpc>
              </a:pPr>
              <a:r>
                <a:rPr lang="en-US" sz="1800" b="true">
                  <a:solidFill>
                    <a:srgbClr val="FFFFFF"/>
                  </a:solidFill>
                  <a:latin typeface="Calibri (MS) Bold"/>
                  <a:ea typeface="Calibri (MS) Bold"/>
                  <a:cs typeface="Calibri (MS) Bold"/>
                  <a:sym typeface="Calibri (MS) Bold"/>
                </a:rPr>
                <a:t>3</a:t>
              </a:r>
            </a:p>
          </p:txBody>
        </p:sp>
      </p:grpSp>
      <p:sp>
        <p:nvSpPr>
          <p:cNvPr name="TextBox 13" id="13"/>
          <p:cNvSpPr txBox="true"/>
          <p:nvPr/>
        </p:nvSpPr>
        <p:spPr>
          <a:xfrm rot="0">
            <a:off x="1291455" y="2209718"/>
            <a:ext cx="15593758" cy="6934482"/>
          </a:xfrm>
          <a:prstGeom prst="rect">
            <a:avLst/>
          </a:prstGeom>
        </p:spPr>
        <p:txBody>
          <a:bodyPr anchor="t" rtlCol="false" tIns="0" lIns="0" bIns="0" rIns="0">
            <a:spAutoFit/>
          </a:bodyPr>
          <a:lstStyle/>
          <a:p>
            <a:pPr algn="just">
              <a:lnSpc>
                <a:spcPts val="4555"/>
              </a:lnSpc>
              <a:spcBef>
                <a:spcPct val="0"/>
              </a:spcBef>
            </a:pPr>
            <a:r>
              <a:rPr lang="en-US" sz="3799">
                <a:solidFill>
                  <a:srgbClr val="000000"/>
                </a:solidFill>
                <a:latin typeface="Times New Roman MT"/>
                <a:ea typeface="Times New Roman MT"/>
                <a:cs typeface="Times New Roman MT"/>
                <a:sym typeface="Times New Roman MT"/>
              </a:rPr>
              <a:t>The dataset originates from India's Directorate General of Commercial Intelligence and Statistics, available through the Government of India Data Portal. It encompasses comprehensive trade metrics including commodity values in both USD and INR, transaction quantities, and detailed classification codes.</a:t>
            </a:r>
          </a:p>
          <a:p>
            <a:pPr algn="just">
              <a:lnSpc>
                <a:spcPts val="4555"/>
              </a:lnSpc>
              <a:spcBef>
                <a:spcPct val="0"/>
              </a:spcBef>
            </a:pPr>
          </a:p>
          <a:p>
            <a:pPr algn="just">
              <a:lnSpc>
                <a:spcPts val="4555"/>
              </a:lnSpc>
              <a:spcBef>
                <a:spcPct val="0"/>
              </a:spcBef>
            </a:pPr>
            <a:r>
              <a:rPr lang="en-US" b="true" sz="3799">
                <a:solidFill>
                  <a:srgbClr val="000000"/>
                </a:solidFill>
                <a:latin typeface="Times New Roman MT Bold"/>
                <a:ea typeface="Times New Roman MT Bold"/>
                <a:cs typeface="Times New Roman MT Bold"/>
                <a:sym typeface="Times New Roman MT Bold"/>
              </a:rPr>
              <a:t>Initial Scale:</a:t>
            </a:r>
            <a:r>
              <a:rPr lang="en-US" sz="3799">
                <a:solidFill>
                  <a:srgbClr val="000000"/>
                </a:solidFill>
                <a:latin typeface="Times New Roman MT"/>
                <a:ea typeface="Times New Roman MT"/>
                <a:cs typeface="Times New Roman MT"/>
                <a:sym typeface="Times New Roman MT"/>
              </a:rPr>
              <a:t> 2,690,579 records across 15 columns</a:t>
            </a:r>
          </a:p>
          <a:p>
            <a:pPr algn="just">
              <a:lnSpc>
                <a:spcPts val="4555"/>
              </a:lnSpc>
              <a:spcBef>
                <a:spcPct val="0"/>
              </a:spcBef>
            </a:pPr>
          </a:p>
          <a:p>
            <a:pPr algn="just">
              <a:lnSpc>
                <a:spcPts val="4555"/>
              </a:lnSpc>
              <a:spcBef>
                <a:spcPct val="0"/>
              </a:spcBef>
            </a:pPr>
            <a:r>
              <a:rPr lang="en-US" b="true" sz="3799">
                <a:solidFill>
                  <a:srgbClr val="000000"/>
                </a:solidFill>
                <a:latin typeface="Times New Roman MT Bold"/>
                <a:ea typeface="Times New Roman MT Bold"/>
                <a:cs typeface="Times New Roman MT Bold"/>
                <a:sym typeface="Times New Roman MT Bold"/>
              </a:rPr>
              <a:t>Post-Cleaning:</a:t>
            </a:r>
            <a:r>
              <a:rPr lang="en-US" sz="3799">
                <a:solidFill>
                  <a:srgbClr val="000000"/>
                </a:solidFill>
                <a:latin typeface="Times New Roman MT"/>
                <a:ea typeface="Times New Roman MT"/>
                <a:cs typeface="Times New Roman MT"/>
                <a:sym typeface="Times New Roman MT"/>
              </a:rPr>
              <a:t> 330,610 high-quality records</a:t>
            </a:r>
          </a:p>
          <a:p>
            <a:pPr algn="just">
              <a:lnSpc>
                <a:spcPts val="4555"/>
              </a:lnSpc>
              <a:spcBef>
                <a:spcPct val="0"/>
              </a:spcBef>
            </a:pPr>
          </a:p>
          <a:p>
            <a:pPr algn="just">
              <a:lnSpc>
                <a:spcPts val="4555"/>
              </a:lnSpc>
              <a:spcBef>
                <a:spcPct val="0"/>
              </a:spcBef>
            </a:pPr>
            <a:r>
              <a:rPr lang="en-US" b="true" sz="3799">
                <a:solidFill>
                  <a:srgbClr val="000000"/>
                </a:solidFill>
                <a:latin typeface="Times New Roman MT Bold"/>
                <a:ea typeface="Times New Roman MT Bold"/>
                <a:cs typeface="Times New Roman MT Bold"/>
                <a:sym typeface="Times New Roman MT Bold"/>
              </a:rPr>
              <a:t>License:</a:t>
            </a:r>
            <a:r>
              <a:rPr lang="en-US" sz="3799">
                <a:solidFill>
                  <a:srgbClr val="000000"/>
                </a:solidFill>
                <a:latin typeface="Times New Roman MT"/>
                <a:ea typeface="Times New Roman MT"/>
                <a:cs typeface="Times New Roman MT"/>
                <a:sym typeface="Times New Roman MT"/>
              </a:rPr>
              <a:t> Open Government License - India</a:t>
            </a:r>
          </a:p>
          <a:p>
            <a:pPr algn="just">
              <a:lnSpc>
                <a:spcPts val="4558"/>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48" y="9574476"/>
            <a:ext cx="18288000" cy="714375"/>
          </a:xfrm>
          <a:custGeom>
            <a:avLst/>
            <a:gdLst/>
            <a:ahLst/>
            <a:cxnLst/>
            <a:rect r="r" b="b" t="t" l="l"/>
            <a:pathLst>
              <a:path h="714375" w="18288000">
                <a:moveTo>
                  <a:pt x="0" y="0"/>
                </a:moveTo>
                <a:lnTo>
                  <a:pt x="18288000" y="0"/>
                </a:lnTo>
                <a:lnTo>
                  <a:pt x="18288000" y="714375"/>
                </a:lnTo>
                <a:lnTo>
                  <a:pt x="0" y="714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9372" y="9735822"/>
            <a:ext cx="6371483" cy="410199"/>
          </a:xfrm>
          <a:custGeom>
            <a:avLst/>
            <a:gdLst/>
            <a:ahLst/>
            <a:cxnLst/>
            <a:rect r="r" b="b" t="t" l="l"/>
            <a:pathLst>
              <a:path h="410199" w="6371483">
                <a:moveTo>
                  <a:pt x="0" y="0"/>
                </a:moveTo>
                <a:lnTo>
                  <a:pt x="6371483" y="0"/>
                </a:lnTo>
                <a:lnTo>
                  <a:pt x="6371483" y="410199"/>
                </a:lnTo>
                <a:lnTo>
                  <a:pt x="0" y="410199"/>
                </a:lnTo>
                <a:lnTo>
                  <a:pt x="0" y="0"/>
                </a:lnTo>
                <a:close/>
              </a:path>
            </a:pathLst>
          </a:custGeom>
          <a:blipFill>
            <a:blip r:embed="rId4">
              <a:extLst>
                <a:ext uri="{96DAC541-7B7A-43D3-8B79-37D633B846F1}">
                  <asvg:svgBlip xmlns:asvg="http://schemas.microsoft.com/office/drawing/2016/SVG/main" r:embed="rId5"/>
                </a:ext>
              </a:extLst>
            </a:blip>
            <a:stretch>
              <a:fillRect l="0" t="-1079" r="0" b="-1079"/>
            </a:stretch>
          </a:blipFill>
        </p:spPr>
      </p:sp>
      <p:sp>
        <p:nvSpPr>
          <p:cNvPr name="Freeform 4" id="4"/>
          <p:cNvSpPr/>
          <p:nvPr/>
        </p:nvSpPr>
        <p:spPr>
          <a:xfrm flipH="false" flipV="false" rot="0">
            <a:off x="0" y="-144661"/>
            <a:ext cx="18288000" cy="9719137"/>
          </a:xfrm>
          <a:custGeom>
            <a:avLst/>
            <a:gdLst/>
            <a:ahLst/>
            <a:cxnLst/>
            <a:rect r="r" b="b" t="t" l="l"/>
            <a:pathLst>
              <a:path h="9719137" w="18288000">
                <a:moveTo>
                  <a:pt x="0" y="0"/>
                </a:moveTo>
                <a:lnTo>
                  <a:pt x="18288000" y="0"/>
                </a:lnTo>
                <a:lnTo>
                  <a:pt x="18288000" y="9719137"/>
                </a:lnTo>
                <a:lnTo>
                  <a:pt x="0" y="9719137"/>
                </a:lnTo>
                <a:lnTo>
                  <a:pt x="0" y="0"/>
                </a:lnTo>
                <a:close/>
              </a:path>
            </a:pathLst>
          </a:custGeom>
          <a:blipFill>
            <a:blip r:embed="rId6">
              <a:extLst>
                <a:ext uri="{96DAC541-7B7A-43D3-8B79-37D633B846F1}">
                  <asvg:svgBlip xmlns:asvg="http://schemas.microsoft.com/office/drawing/2016/SVG/main" r:embed="rId7"/>
                </a:ext>
              </a:extLst>
            </a:blip>
            <a:stretch>
              <a:fillRect l="0" t="-30" r="0" b="-30"/>
            </a:stretch>
          </a:blipFill>
        </p:spPr>
      </p:sp>
      <p:grpSp>
        <p:nvGrpSpPr>
          <p:cNvPr name="Group 5" id="5"/>
          <p:cNvGrpSpPr/>
          <p:nvPr/>
        </p:nvGrpSpPr>
        <p:grpSpPr>
          <a:xfrm rot="0">
            <a:off x="1207499" y="914996"/>
            <a:ext cx="7803766" cy="1571795"/>
            <a:chOff x="0" y="0"/>
            <a:chExt cx="10405022" cy="2095727"/>
          </a:xfrm>
        </p:grpSpPr>
        <p:sp>
          <p:nvSpPr>
            <p:cNvPr name="Freeform 6" id="6"/>
            <p:cNvSpPr/>
            <p:nvPr/>
          </p:nvSpPr>
          <p:spPr>
            <a:xfrm flipH="false" flipV="false" rot="0">
              <a:off x="0" y="0"/>
              <a:ext cx="10405022" cy="2095727"/>
            </a:xfrm>
            <a:custGeom>
              <a:avLst/>
              <a:gdLst/>
              <a:ahLst/>
              <a:cxnLst/>
              <a:rect r="r" b="b" t="t" l="l"/>
              <a:pathLst>
                <a:path h="2095727" w="10405022">
                  <a:moveTo>
                    <a:pt x="0" y="0"/>
                  </a:moveTo>
                  <a:lnTo>
                    <a:pt x="10405022" y="0"/>
                  </a:lnTo>
                  <a:lnTo>
                    <a:pt x="10405022" y="2095727"/>
                  </a:lnTo>
                  <a:lnTo>
                    <a:pt x="0" y="2095727"/>
                  </a:lnTo>
                  <a:close/>
                </a:path>
              </a:pathLst>
            </a:custGeom>
            <a:solidFill>
              <a:srgbClr val="000000">
                <a:alpha val="0"/>
              </a:srgbClr>
            </a:solidFill>
          </p:spPr>
        </p:sp>
        <p:sp>
          <p:nvSpPr>
            <p:cNvPr name="TextBox 7" id="7"/>
            <p:cNvSpPr txBox="true"/>
            <p:nvPr/>
          </p:nvSpPr>
          <p:spPr>
            <a:xfrm>
              <a:off x="0" y="-95250"/>
              <a:ext cx="10405022" cy="2190977"/>
            </a:xfrm>
            <a:prstGeom prst="rect">
              <a:avLst/>
            </a:prstGeom>
          </p:spPr>
          <p:txBody>
            <a:bodyPr anchor="ctr" rtlCol="false" tIns="0" lIns="0" bIns="0" rIns="0"/>
            <a:lstStyle/>
            <a:p>
              <a:pPr algn="just">
                <a:lnSpc>
                  <a:spcPts val="5517"/>
                </a:lnSpc>
              </a:pPr>
              <a:r>
                <a:rPr lang="en-US" sz="4599" b="true">
                  <a:solidFill>
                    <a:srgbClr val="00B050"/>
                  </a:solidFill>
                  <a:latin typeface="Times New Roman MT Bold"/>
                  <a:ea typeface="Times New Roman MT Bold"/>
                  <a:cs typeface="Times New Roman MT Bold"/>
                  <a:sym typeface="Times New Roman MT Bold"/>
                </a:rPr>
                <a:t>Project Goal</a:t>
              </a:r>
              <a:r>
                <a:rPr lang="en-US" sz="4599" b="true">
                  <a:solidFill>
                    <a:srgbClr val="00B050"/>
                  </a:solidFill>
                  <a:latin typeface="Times New Roman MT Bold"/>
                  <a:ea typeface="Times New Roman MT Bold"/>
                  <a:cs typeface="Times New Roman MT Bold"/>
                  <a:sym typeface="Times New Roman MT Bold"/>
                </a:rPr>
                <a:t>s</a:t>
              </a:r>
            </a:p>
          </p:txBody>
        </p:sp>
      </p:grpSp>
      <p:grpSp>
        <p:nvGrpSpPr>
          <p:cNvPr name="Group 8" id="8"/>
          <p:cNvGrpSpPr/>
          <p:nvPr/>
        </p:nvGrpSpPr>
        <p:grpSpPr>
          <a:xfrm rot="0">
            <a:off x="44380" y="52412"/>
            <a:ext cx="2014538" cy="862584"/>
            <a:chOff x="0" y="0"/>
            <a:chExt cx="2686050" cy="1150112"/>
          </a:xfrm>
        </p:grpSpPr>
        <p:sp>
          <p:nvSpPr>
            <p:cNvPr name="Freeform 9" id="9"/>
            <p:cNvSpPr/>
            <p:nvPr/>
          </p:nvSpPr>
          <p:spPr>
            <a:xfrm flipH="false" flipV="false" rot="0">
              <a:off x="0" y="0"/>
              <a:ext cx="2686050" cy="1150112"/>
            </a:xfrm>
            <a:custGeom>
              <a:avLst/>
              <a:gdLst/>
              <a:ahLst/>
              <a:cxnLst/>
              <a:rect r="r" b="b" t="t" l="l"/>
              <a:pathLst>
                <a:path h="1150112" w="2686050">
                  <a:moveTo>
                    <a:pt x="0" y="0"/>
                  </a:moveTo>
                  <a:lnTo>
                    <a:pt x="2686050" y="0"/>
                  </a:lnTo>
                  <a:lnTo>
                    <a:pt x="2686050" y="1150112"/>
                  </a:lnTo>
                  <a:lnTo>
                    <a:pt x="0" y="1150112"/>
                  </a:lnTo>
                  <a:lnTo>
                    <a:pt x="0" y="0"/>
                  </a:lnTo>
                  <a:close/>
                </a:path>
              </a:pathLst>
            </a:custGeom>
            <a:blipFill>
              <a:blip r:embed="rId8"/>
              <a:stretch>
                <a:fillRect l="0" t="-45" r="0" b="-45"/>
              </a:stretch>
            </a:blipFill>
          </p:spPr>
        </p:sp>
      </p:grpSp>
      <p:grpSp>
        <p:nvGrpSpPr>
          <p:cNvPr name="Group 10" id="10"/>
          <p:cNvGrpSpPr/>
          <p:nvPr/>
        </p:nvGrpSpPr>
        <p:grpSpPr>
          <a:xfrm rot="0">
            <a:off x="13887450" y="9610725"/>
            <a:ext cx="4114800" cy="604838"/>
            <a:chOff x="0" y="0"/>
            <a:chExt cx="5486400" cy="806451"/>
          </a:xfrm>
        </p:grpSpPr>
        <p:sp>
          <p:nvSpPr>
            <p:cNvPr name="Freeform 11" id="11"/>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12" id="12"/>
            <p:cNvSpPr txBox="true"/>
            <p:nvPr/>
          </p:nvSpPr>
          <p:spPr>
            <a:xfrm>
              <a:off x="0" y="-38100"/>
              <a:ext cx="5486400" cy="844551"/>
            </a:xfrm>
            <a:prstGeom prst="rect">
              <a:avLst/>
            </a:prstGeom>
          </p:spPr>
          <p:txBody>
            <a:bodyPr anchor="ctr" rtlCol="false" tIns="0" lIns="0" bIns="0" rIns="0"/>
            <a:lstStyle/>
            <a:p>
              <a:pPr algn="r">
                <a:lnSpc>
                  <a:spcPts val="2160"/>
                </a:lnSpc>
              </a:pPr>
              <a:r>
                <a:rPr lang="en-US" sz="1800" b="true">
                  <a:solidFill>
                    <a:srgbClr val="FFFFFF"/>
                  </a:solidFill>
                  <a:latin typeface="Calibri (MS) Bold"/>
                  <a:ea typeface="Calibri (MS) Bold"/>
                  <a:cs typeface="Calibri (MS) Bold"/>
                  <a:sym typeface="Calibri (MS) Bold"/>
                </a:rPr>
                <a:t>4</a:t>
              </a:r>
            </a:p>
          </p:txBody>
        </p:sp>
      </p:grpSp>
      <p:sp>
        <p:nvSpPr>
          <p:cNvPr name="TextBox 13" id="13"/>
          <p:cNvSpPr txBox="true"/>
          <p:nvPr/>
        </p:nvSpPr>
        <p:spPr>
          <a:xfrm rot="0">
            <a:off x="1207499" y="2504764"/>
            <a:ext cx="15535010" cy="4257642"/>
          </a:xfrm>
          <a:prstGeom prst="rect">
            <a:avLst/>
          </a:prstGeom>
        </p:spPr>
        <p:txBody>
          <a:bodyPr anchor="t" rtlCol="false" tIns="0" lIns="0" bIns="0" rIns="0">
            <a:spAutoFit/>
          </a:bodyPr>
          <a:lstStyle/>
          <a:p>
            <a:pPr algn="just">
              <a:lnSpc>
                <a:spcPts val="4196"/>
              </a:lnSpc>
            </a:pPr>
            <a:r>
              <a:rPr lang="en-US" sz="3497">
                <a:solidFill>
                  <a:srgbClr val="000000"/>
                </a:solidFill>
                <a:latin typeface="Times New Roman MT"/>
                <a:ea typeface="Times New Roman MT"/>
                <a:cs typeface="Times New Roman MT"/>
                <a:sym typeface="Times New Roman MT"/>
              </a:rPr>
              <a:t>1.</a:t>
            </a:r>
            <a:r>
              <a:rPr lang="en-US" b="true" sz="3497">
                <a:solidFill>
                  <a:srgbClr val="000000"/>
                </a:solidFill>
                <a:latin typeface="Times New Roman MT Bold"/>
                <a:ea typeface="Times New Roman MT Bold"/>
                <a:cs typeface="Times New Roman MT Bold"/>
                <a:sym typeface="Times New Roman MT Bold"/>
              </a:rPr>
              <a:t> Data Preparation:</a:t>
            </a:r>
            <a:r>
              <a:rPr lang="en-US" sz="3497">
                <a:solidFill>
                  <a:srgbClr val="000000"/>
                </a:solidFill>
                <a:latin typeface="Times New Roman MT"/>
                <a:ea typeface="Times New Roman MT"/>
                <a:cs typeface="Times New Roman MT"/>
                <a:sym typeface="Times New Roman MT"/>
              </a:rPr>
              <a:t> Clean and structure large-scale export dataset</a:t>
            </a:r>
          </a:p>
          <a:p>
            <a:pPr algn="just">
              <a:lnSpc>
                <a:spcPts val="4196"/>
              </a:lnSpc>
            </a:pPr>
          </a:p>
          <a:p>
            <a:pPr algn="just">
              <a:lnSpc>
                <a:spcPts val="4196"/>
              </a:lnSpc>
            </a:pPr>
            <a:r>
              <a:rPr lang="en-US" sz="3497">
                <a:solidFill>
                  <a:srgbClr val="000000"/>
                </a:solidFill>
                <a:latin typeface="Times New Roman MT"/>
                <a:ea typeface="Times New Roman MT"/>
                <a:cs typeface="Times New Roman MT"/>
                <a:sym typeface="Times New Roman MT"/>
              </a:rPr>
              <a:t>2. </a:t>
            </a:r>
            <a:r>
              <a:rPr lang="en-US" sz="3497" b="true">
                <a:solidFill>
                  <a:srgbClr val="000000"/>
                </a:solidFill>
                <a:latin typeface="Times New Roman MT Bold"/>
                <a:ea typeface="Times New Roman MT Bold"/>
                <a:cs typeface="Times New Roman MT Bold"/>
                <a:sym typeface="Times New Roman MT Bold"/>
              </a:rPr>
              <a:t>Exploratory Analysis:</a:t>
            </a:r>
            <a:r>
              <a:rPr lang="en-US" sz="3497">
                <a:solidFill>
                  <a:srgbClr val="000000"/>
                </a:solidFill>
                <a:latin typeface="Times New Roman MT"/>
                <a:ea typeface="Times New Roman MT"/>
                <a:cs typeface="Times New Roman MT"/>
                <a:sym typeface="Times New Roman MT"/>
              </a:rPr>
              <a:t> Identify key trends and patterns</a:t>
            </a:r>
          </a:p>
          <a:p>
            <a:pPr algn="just">
              <a:lnSpc>
                <a:spcPts val="4196"/>
              </a:lnSpc>
            </a:pPr>
          </a:p>
          <a:p>
            <a:pPr algn="just">
              <a:lnSpc>
                <a:spcPts val="4196"/>
              </a:lnSpc>
            </a:pPr>
            <a:r>
              <a:rPr lang="en-US" sz="3497">
                <a:solidFill>
                  <a:srgbClr val="000000"/>
                </a:solidFill>
                <a:latin typeface="Times New Roman MT"/>
                <a:ea typeface="Times New Roman MT"/>
                <a:cs typeface="Times New Roman MT"/>
                <a:sym typeface="Times New Roman MT"/>
              </a:rPr>
              <a:t>3. </a:t>
            </a:r>
            <a:r>
              <a:rPr lang="en-US" sz="3497" b="true">
                <a:solidFill>
                  <a:srgbClr val="000000"/>
                </a:solidFill>
                <a:latin typeface="Times New Roman MT Bold"/>
                <a:ea typeface="Times New Roman MT Bold"/>
                <a:cs typeface="Times New Roman MT Bold"/>
                <a:sym typeface="Times New Roman MT Bold"/>
              </a:rPr>
              <a:t>Predictive Modeling:</a:t>
            </a:r>
            <a:r>
              <a:rPr lang="en-US" sz="3497">
                <a:solidFill>
                  <a:srgbClr val="000000"/>
                </a:solidFill>
                <a:latin typeface="Times New Roman MT"/>
                <a:ea typeface="Times New Roman MT"/>
                <a:cs typeface="Times New Roman MT"/>
                <a:sym typeface="Times New Roman MT"/>
              </a:rPr>
              <a:t> Build ML models for value and category prediction</a:t>
            </a:r>
          </a:p>
          <a:p>
            <a:pPr algn="just">
              <a:lnSpc>
                <a:spcPts val="4196"/>
              </a:lnSpc>
            </a:pPr>
          </a:p>
          <a:p>
            <a:pPr algn="just">
              <a:lnSpc>
                <a:spcPts val="4196"/>
              </a:lnSpc>
            </a:pPr>
            <a:r>
              <a:rPr lang="en-US" sz="3497">
                <a:solidFill>
                  <a:srgbClr val="000000"/>
                </a:solidFill>
                <a:latin typeface="Times New Roman MT"/>
                <a:ea typeface="Times New Roman MT"/>
                <a:cs typeface="Times New Roman MT"/>
                <a:sym typeface="Times New Roman MT"/>
              </a:rPr>
              <a:t>4. </a:t>
            </a:r>
            <a:r>
              <a:rPr lang="en-US" sz="3497" b="true">
                <a:solidFill>
                  <a:srgbClr val="000000"/>
                </a:solidFill>
                <a:latin typeface="Times New Roman MT Bold"/>
                <a:ea typeface="Times New Roman MT Bold"/>
                <a:cs typeface="Times New Roman MT Bold"/>
                <a:sym typeface="Times New Roman MT Bold"/>
              </a:rPr>
              <a:t>Interactive Deployment: </a:t>
            </a:r>
            <a:r>
              <a:rPr lang="en-US" sz="3497">
                <a:solidFill>
                  <a:srgbClr val="000000"/>
                </a:solidFill>
                <a:latin typeface="Times New Roman MT"/>
                <a:ea typeface="Times New Roman MT"/>
                <a:cs typeface="Times New Roman MT"/>
                <a:sym typeface="Times New Roman MT"/>
              </a:rPr>
              <a:t>Launch Streamlit web application</a:t>
            </a:r>
          </a:p>
          <a:p>
            <a:pPr algn="just">
              <a:lnSpc>
                <a:spcPts val="4196"/>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44661"/>
            <a:ext cx="18288000" cy="9719137"/>
          </a:xfrm>
          <a:custGeom>
            <a:avLst/>
            <a:gdLst/>
            <a:ahLst/>
            <a:cxnLst/>
            <a:rect r="r" b="b" t="t" l="l"/>
            <a:pathLst>
              <a:path h="9719137" w="18288000">
                <a:moveTo>
                  <a:pt x="0" y="0"/>
                </a:moveTo>
                <a:lnTo>
                  <a:pt x="18288000" y="0"/>
                </a:lnTo>
                <a:lnTo>
                  <a:pt x="18288000" y="9719137"/>
                </a:lnTo>
                <a:lnTo>
                  <a:pt x="0" y="9719137"/>
                </a:lnTo>
                <a:lnTo>
                  <a:pt x="0" y="0"/>
                </a:lnTo>
                <a:close/>
              </a:path>
            </a:pathLst>
          </a:custGeom>
          <a:blipFill>
            <a:blip r:embed="rId2">
              <a:extLst>
                <a:ext uri="{96DAC541-7B7A-43D3-8B79-37D633B846F1}">
                  <asvg:svgBlip xmlns:asvg="http://schemas.microsoft.com/office/drawing/2016/SVG/main" r:embed="rId3"/>
                </a:ext>
              </a:extLst>
            </a:blip>
            <a:stretch>
              <a:fillRect l="0" t="-30" r="0" b="-30"/>
            </a:stretch>
          </a:blipFill>
        </p:spPr>
      </p:sp>
      <p:sp>
        <p:nvSpPr>
          <p:cNvPr name="Freeform 3" id="3"/>
          <p:cNvSpPr/>
          <p:nvPr/>
        </p:nvSpPr>
        <p:spPr>
          <a:xfrm flipH="false" flipV="false" rot="0">
            <a:off x="6348" y="9574476"/>
            <a:ext cx="18288000" cy="714375"/>
          </a:xfrm>
          <a:custGeom>
            <a:avLst/>
            <a:gdLst/>
            <a:ahLst/>
            <a:cxnLst/>
            <a:rect r="r" b="b" t="t" l="l"/>
            <a:pathLst>
              <a:path h="714375" w="18288000">
                <a:moveTo>
                  <a:pt x="0" y="0"/>
                </a:moveTo>
                <a:lnTo>
                  <a:pt x="18288000" y="0"/>
                </a:lnTo>
                <a:lnTo>
                  <a:pt x="18288000" y="714375"/>
                </a:lnTo>
                <a:lnTo>
                  <a:pt x="0" y="714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9372" y="9735822"/>
            <a:ext cx="6371483" cy="410199"/>
          </a:xfrm>
          <a:custGeom>
            <a:avLst/>
            <a:gdLst/>
            <a:ahLst/>
            <a:cxnLst/>
            <a:rect r="r" b="b" t="t" l="l"/>
            <a:pathLst>
              <a:path h="410199" w="6371483">
                <a:moveTo>
                  <a:pt x="0" y="0"/>
                </a:moveTo>
                <a:lnTo>
                  <a:pt x="6371483" y="0"/>
                </a:lnTo>
                <a:lnTo>
                  <a:pt x="6371483" y="410199"/>
                </a:lnTo>
                <a:lnTo>
                  <a:pt x="0" y="410199"/>
                </a:lnTo>
                <a:lnTo>
                  <a:pt x="0" y="0"/>
                </a:lnTo>
                <a:close/>
              </a:path>
            </a:pathLst>
          </a:custGeom>
          <a:blipFill>
            <a:blip r:embed="rId6">
              <a:extLst>
                <a:ext uri="{96DAC541-7B7A-43D3-8B79-37D633B846F1}">
                  <asvg:svgBlip xmlns:asvg="http://schemas.microsoft.com/office/drawing/2016/SVG/main" r:embed="rId7"/>
                </a:ext>
              </a:extLst>
            </a:blip>
            <a:stretch>
              <a:fillRect l="0" t="-1079" r="0" b="-1079"/>
            </a:stretch>
          </a:blipFill>
        </p:spPr>
      </p:sp>
      <p:grpSp>
        <p:nvGrpSpPr>
          <p:cNvPr name="Group 5" id="5"/>
          <p:cNvGrpSpPr/>
          <p:nvPr/>
        </p:nvGrpSpPr>
        <p:grpSpPr>
          <a:xfrm rot="0">
            <a:off x="1051634" y="592774"/>
            <a:ext cx="8132402" cy="1571797"/>
            <a:chOff x="0" y="0"/>
            <a:chExt cx="10843203" cy="2095729"/>
          </a:xfrm>
        </p:grpSpPr>
        <p:sp>
          <p:nvSpPr>
            <p:cNvPr name="Freeform 6" id="6"/>
            <p:cNvSpPr/>
            <p:nvPr/>
          </p:nvSpPr>
          <p:spPr>
            <a:xfrm flipH="false" flipV="false" rot="0">
              <a:off x="0" y="0"/>
              <a:ext cx="10843202" cy="2095729"/>
            </a:xfrm>
            <a:custGeom>
              <a:avLst/>
              <a:gdLst/>
              <a:ahLst/>
              <a:cxnLst/>
              <a:rect r="r" b="b" t="t" l="l"/>
              <a:pathLst>
                <a:path h="2095729" w="10843202">
                  <a:moveTo>
                    <a:pt x="0" y="0"/>
                  </a:moveTo>
                  <a:lnTo>
                    <a:pt x="10843202" y="0"/>
                  </a:lnTo>
                  <a:lnTo>
                    <a:pt x="10843202" y="2095729"/>
                  </a:lnTo>
                  <a:lnTo>
                    <a:pt x="0" y="2095729"/>
                  </a:lnTo>
                  <a:close/>
                </a:path>
              </a:pathLst>
            </a:custGeom>
            <a:solidFill>
              <a:srgbClr val="000000">
                <a:alpha val="0"/>
              </a:srgbClr>
            </a:solidFill>
          </p:spPr>
        </p:sp>
        <p:sp>
          <p:nvSpPr>
            <p:cNvPr name="TextBox 7" id="7"/>
            <p:cNvSpPr txBox="true"/>
            <p:nvPr/>
          </p:nvSpPr>
          <p:spPr>
            <a:xfrm>
              <a:off x="0" y="-95250"/>
              <a:ext cx="10843203" cy="2190979"/>
            </a:xfrm>
            <a:prstGeom prst="rect">
              <a:avLst/>
            </a:prstGeom>
          </p:spPr>
          <p:txBody>
            <a:bodyPr anchor="ctr" rtlCol="false" tIns="0" lIns="0" bIns="0" rIns="0"/>
            <a:lstStyle/>
            <a:p>
              <a:pPr algn="l">
                <a:lnSpc>
                  <a:spcPts val="5517"/>
                </a:lnSpc>
              </a:pPr>
              <a:r>
                <a:rPr lang="en-US" sz="4599" b="true">
                  <a:solidFill>
                    <a:srgbClr val="B74A00"/>
                  </a:solidFill>
                  <a:latin typeface="Times New Roman MT Bold"/>
                  <a:ea typeface="Times New Roman MT Bold"/>
                  <a:cs typeface="Times New Roman MT Bold"/>
                  <a:sym typeface="Times New Roman MT Bold"/>
                </a:rPr>
                <a:t>Data </a:t>
              </a:r>
              <a:r>
                <a:rPr lang="en-US" sz="4599" b="true">
                  <a:solidFill>
                    <a:srgbClr val="B74A00"/>
                  </a:solidFill>
                  <a:latin typeface="Times New Roman MT Bold"/>
                  <a:ea typeface="Times New Roman MT Bold"/>
                  <a:cs typeface="Times New Roman MT Bold"/>
                  <a:sym typeface="Times New Roman MT Bold"/>
                </a:rPr>
                <a:t>Processing Methodology</a:t>
              </a:r>
            </a:p>
          </p:txBody>
        </p:sp>
      </p:grpSp>
      <p:grpSp>
        <p:nvGrpSpPr>
          <p:cNvPr name="Group 8" id="8"/>
          <p:cNvGrpSpPr/>
          <p:nvPr/>
        </p:nvGrpSpPr>
        <p:grpSpPr>
          <a:xfrm rot="0">
            <a:off x="44380" y="52412"/>
            <a:ext cx="2014538" cy="862584"/>
            <a:chOff x="0" y="0"/>
            <a:chExt cx="2686050" cy="1150112"/>
          </a:xfrm>
        </p:grpSpPr>
        <p:sp>
          <p:nvSpPr>
            <p:cNvPr name="Freeform 9" id="9"/>
            <p:cNvSpPr/>
            <p:nvPr/>
          </p:nvSpPr>
          <p:spPr>
            <a:xfrm flipH="false" flipV="false" rot="0">
              <a:off x="0" y="0"/>
              <a:ext cx="2686050" cy="1150112"/>
            </a:xfrm>
            <a:custGeom>
              <a:avLst/>
              <a:gdLst/>
              <a:ahLst/>
              <a:cxnLst/>
              <a:rect r="r" b="b" t="t" l="l"/>
              <a:pathLst>
                <a:path h="1150112" w="2686050">
                  <a:moveTo>
                    <a:pt x="0" y="0"/>
                  </a:moveTo>
                  <a:lnTo>
                    <a:pt x="2686050" y="0"/>
                  </a:lnTo>
                  <a:lnTo>
                    <a:pt x="2686050" y="1150112"/>
                  </a:lnTo>
                  <a:lnTo>
                    <a:pt x="0" y="1150112"/>
                  </a:lnTo>
                  <a:lnTo>
                    <a:pt x="0" y="0"/>
                  </a:lnTo>
                  <a:close/>
                </a:path>
              </a:pathLst>
            </a:custGeom>
            <a:blipFill>
              <a:blip r:embed="rId8"/>
              <a:stretch>
                <a:fillRect l="0" t="-45" r="0" b="-45"/>
              </a:stretch>
            </a:blipFill>
          </p:spPr>
        </p:sp>
      </p:grpSp>
      <p:grpSp>
        <p:nvGrpSpPr>
          <p:cNvPr name="Group 10" id="10"/>
          <p:cNvGrpSpPr/>
          <p:nvPr/>
        </p:nvGrpSpPr>
        <p:grpSpPr>
          <a:xfrm rot="0">
            <a:off x="13887450" y="9610725"/>
            <a:ext cx="4114800" cy="604838"/>
            <a:chOff x="0" y="0"/>
            <a:chExt cx="5486400" cy="806451"/>
          </a:xfrm>
        </p:grpSpPr>
        <p:sp>
          <p:nvSpPr>
            <p:cNvPr name="Freeform 11" id="11"/>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12" id="12"/>
            <p:cNvSpPr txBox="true"/>
            <p:nvPr/>
          </p:nvSpPr>
          <p:spPr>
            <a:xfrm>
              <a:off x="0" y="-38100"/>
              <a:ext cx="5486400" cy="844551"/>
            </a:xfrm>
            <a:prstGeom prst="rect">
              <a:avLst/>
            </a:prstGeom>
          </p:spPr>
          <p:txBody>
            <a:bodyPr anchor="ctr" rtlCol="false" tIns="0" lIns="0" bIns="0" rIns="0"/>
            <a:lstStyle/>
            <a:p>
              <a:pPr algn="r">
                <a:lnSpc>
                  <a:spcPts val="2160"/>
                </a:lnSpc>
              </a:pPr>
              <a:r>
                <a:rPr lang="en-US" sz="1800" b="true">
                  <a:solidFill>
                    <a:srgbClr val="FFFFFF"/>
                  </a:solidFill>
                  <a:latin typeface="Calibri (MS) Bold"/>
                  <a:ea typeface="Calibri (MS) Bold"/>
                  <a:cs typeface="Calibri (MS) Bold"/>
                  <a:sym typeface="Calibri (MS) Bold"/>
                </a:rPr>
                <a:t>5</a:t>
              </a:r>
            </a:p>
          </p:txBody>
        </p:sp>
      </p:grpSp>
      <p:sp>
        <p:nvSpPr>
          <p:cNvPr name="TextBox 13" id="13"/>
          <p:cNvSpPr txBox="true"/>
          <p:nvPr/>
        </p:nvSpPr>
        <p:spPr>
          <a:xfrm rot="0">
            <a:off x="1051634" y="2088371"/>
            <a:ext cx="15733517" cy="4876800"/>
          </a:xfrm>
          <a:prstGeom prst="rect">
            <a:avLst/>
          </a:prstGeom>
        </p:spPr>
        <p:txBody>
          <a:bodyPr anchor="t" rtlCol="false" tIns="0" lIns="0" bIns="0" rIns="0">
            <a:spAutoFit/>
          </a:bodyPr>
          <a:lstStyle/>
          <a:p>
            <a:pPr algn="just">
              <a:lnSpc>
                <a:spcPts val="4740"/>
              </a:lnSpc>
            </a:pPr>
            <a:r>
              <a:rPr lang="en-US" sz="3950" b="true">
                <a:solidFill>
                  <a:srgbClr val="000000"/>
                </a:solidFill>
                <a:latin typeface="Times New Roman MT Bold"/>
                <a:ea typeface="Times New Roman MT Bold"/>
                <a:cs typeface="Times New Roman MT Bold"/>
                <a:sym typeface="Times New Roman MT Bold"/>
              </a:rPr>
              <a:t>Data Cleaning: </a:t>
            </a:r>
            <a:r>
              <a:rPr lang="en-US" sz="3950">
                <a:solidFill>
                  <a:srgbClr val="000000"/>
                </a:solidFill>
                <a:latin typeface="Times New Roman MT"/>
                <a:ea typeface="Times New Roman MT"/>
                <a:cs typeface="Times New Roman MT"/>
                <a:sym typeface="Times New Roman MT"/>
              </a:rPr>
              <a:t>Handling missing values and correcting data types, including date conversion for time-series analysis</a:t>
            </a:r>
          </a:p>
          <a:p>
            <a:pPr algn="just">
              <a:lnSpc>
                <a:spcPts val="4740"/>
              </a:lnSpc>
            </a:pPr>
          </a:p>
          <a:p>
            <a:pPr algn="just">
              <a:lnSpc>
                <a:spcPts val="4740"/>
              </a:lnSpc>
            </a:pPr>
            <a:r>
              <a:rPr lang="en-US" sz="3950" b="true">
                <a:solidFill>
                  <a:srgbClr val="000000"/>
                </a:solidFill>
                <a:latin typeface="Times New Roman MT Bold"/>
                <a:ea typeface="Times New Roman MT Bold"/>
                <a:cs typeface="Times New Roman MT Bold"/>
                <a:sym typeface="Times New Roman MT Bold"/>
              </a:rPr>
              <a:t>Feature Engineering: </a:t>
            </a:r>
            <a:r>
              <a:rPr lang="en-US" sz="3950">
                <a:solidFill>
                  <a:srgbClr val="000000"/>
                </a:solidFill>
                <a:latin typeface="Times New Roman MT"/>
                <a:ea typeface="Times New Roman MT"/>
                <a:cs typeface="Times New Roman MT"/>
                <a:sym typeface="Times New Roman MT"/>
              </a:rPr>
              <a:t>Extracting Year, Month, and Quarter from dates to enable temporal pattern analysis</a:t>
            </a:r>
          </a:p>
          <a:p>
            <a:pPr algn="just">
              <a:lnSpc>
                <a:spcPts val="4740"/>
              </a:lnSpc>
            </a:pPr>
          </a:p>
          <a:p>
            <a:pPr algn="just">
              <a:lnSpc>
                <a:spcPts val="4740"/>
              </a:lnSpc>
            </a:pPr>
            <a:r>
              <a:rPr lang="en-US" sz="3950" b="true">
                <a:solidFill>
                  <a:srgbClr val="000000"/>
                </a:solidFill>
                <a:latin typeface="Times New Roman MT Bold"/>
                <a:ea typeface="Times New Roman MT Bold"/>
                <a:cs typeface="Times New Roman MT Bold"/>
                <a:sym typeface="Times New Roman MT Bold"/>
              </a:rPr>
              <a:t>Analysis &amp; Visualization: </a:t>
            </a:r>
            <a:r>
              <a:rPr lang="en-US" sz="3950">
                <a:solidFill>
                  <a:srgbClr val="000000"/>
                </a:solidFill>
                <a:latin typeface="Times New Roman MT"/>
                <a:ea typeface="Times New Roman MT"/>
                <a:cs typeface="Times New Roman MT"/>
                <a:sym typeface="Times New Roman MT"/>
              </a:rPr>
              <a:t>Leveraging Python libraries for comprehensive data exploration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44661"/>
            <a:ext cx="18288000" cy="9719137"/>
          </a:xfrm>
          <a:custGeom>
            <a:avLst/>
            <a:gdLst/>
            <a:ahLst/>
            <a:cxnLst/>
            <a:rect r="r" b="b" t="t" l="l"/>
            <a:pathLst>
              <a:path h="9719137" w="18288000">
                <a:moveTo>
                  <a:pt x="0" y="0"/>
                </a:moveTo>
                <a:lnTo>
                  <a:pt x="18288000" y="0"/>
                </a:lnTo>
                <a:lnTo>
                  <a:pt x="18288000" y="9719137"/>
                </a:lnTo>
                <a:lnTo>
                  <a:pt x="0" y="9719137"/>
                </a:lnTo>
                <a:lnTo>
                  <a:pt x="0" y="0"/>
                </a:lnTo>
                <a:close/>
              </a:path>
            </a:pathLst>
          </a:custGeom>
          <a:blipFill>
            <a:blip r:embed="rId2">
              <a:extLst>
                <a:ext uri="{96DAC541-7B7A-43D3-8B79-37D633B846F1}">
                  <asvg:svgBlip xmlns:asvg="http://schemas.microsoft.com/office/drawing/2016/SVG/main" r:embed="rId3"/>
                </a:ext>
              </a:extLst>
            </a:blip>
            <a:stretch>
              <a:fillRect l="0" t="-30" r="0" b="-30"/>
            </a:stretch>
          </a:blipFill>
        </p:spPr>
      </p:sp>
      <p:sp>
        <p:nvSpPr>
          <p:cNvPr name="Freeform 3" id="3"/>
          <p:cNvSpPr/>
          <p:nvPr/>
        </p:nvSpPr>
        <p:spPr>
          <a:xfrm flipH="false" flipV="false" rot="0">
            <a:off x="6348" y="9574476"/>
            <a:ext cx="18288000" cy="714375"/>
          </a:xfrm>
          <a:custGeom>
            <a:avLst/>
            <a:gdLst/>
            <a:ahLst/>
            <a:cxnLst/>
            <a:rect r="r" b="b" t="t" l="l"/>
            <a:pathLst>
              <a:path h="714375" w="18288000">
                <a:moveTo>
                  <a:pt x="0" y="0"/>
                </a:moveTo>
                <a:lnTo>
                  <a:pt x="18288000" y="0"/>
                </a:lnTo>
                <a:lnTo>
                  <a:pt x="18288000" y="714375"/>
                </a:lnTo>
                <a:lnTo>
                  <a:pt x="0" y="714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9372" y="9735822"/>
            <a:ext cx="6371483" cy="410199"/>
          </a:xfrm>
          <a:custGeom>
            <a:avLst/>
            <a:gdLst/>
            <a:ahLst/>
            <a:cxnLst/>
            <a:rect r="r" b="b" t="t" l="l"/>
            <a:pathLst>
              <a:path h="410199" w="6371483">
                <a:moveTo>
                  <a:pt x="0" y="0"/>
                </a:moveTo>
                <a:lnTo>
                  <a:pt x="6371483" y="0"/>
                </a:lnTo>
                <a:lnTo>
                  <a:pt x="6371483" y="410199"/>
                </a:lnTo>
                <a:lnTo>
                  <a:pt x="0" y="410199"/>
                </a:lnTo>
                <a:lnTo>
                  <a:pt x="0" y="0"/>
                </a:lnTo>
                <a:close/>
              </a:path>
            </a:pathLst>
          </a:custGeom>
          <a:blipFill>
            <a:blip r:embed="rId6">
              <a:extLst>
                <a:ext uri="{96DAC541-7B7A-43D3-8B79-37D633B846F1}">
                  <asvg:svgBlip xmlns:asvg="http://schemas.microsoft.com/office/drawing/2016/SVG/main" r:embed="rId7"/>
                </a:ext>
              </a:extLst>
            </a:blip>
            <a:stretch>
              <a:fillRect l="0" t="-1079" r="0" b="-1079"/>
            </a:stretch>
          </a:blipFill>
        </p:spPr>
      </p:sp>
      <p:grpSp>
        <p:nvGrpSpPr>
          <p:cNvPr name="Group 5" id="5"/>
          <p:cNvGrpSpPr/>
          <p:nvPr/>
        </p:nvGrpSpPr>
        <p:grpSpPr>
          <a:xfrm rot="0">
            <a:off x="1051649" y="914996"/>
            <a:ext cx="8132402" cy="1571797"/>
            <a:chOff x="0" y="0"/>
            <a:chExt cx="10843203" cy="2095729"/>
          </a:xfrm>
        </p:grpSpPr>
        <p:sp>
          <p:nvSpPr>
            <p:cNvPr name="Freeform 6" id="6"/>
            <p:cNvSpPr/>
            <p:nvPr/>
          </p:nvSpPr>
          <p:spPr>
            <a:xfrm flipH="false" flipV="false" rot="0">
              <a:off x="0" y="0"/>
              <a:ext cx="10843202" cy="2095729"/>
            </a:xfrm>
            <a:custGeom>
              <a:avLst/>
              <a:gdLst/>
              <a:ahLst/>
              <a:cxnLst/>
              <a:rect r="r" b="b" t="t" l="l"/>
              <a:pathLst>
                <a:path h="2095729" w="10843202">
                  <a:moveTo>
                    <a:pt x="0" y="0"/>
                  </a:moveTo>
                  <a:lnTo>
                    <a:pt x="10843202" y="0"/>
                  </a:lnTo>
                  <a:lnTo>
                    <a:pt x="10843202" y="2095729"/>
                  </a:lnTo>
                  <a:lnTo>
                    <a:pt x="0" y="2095729"/>
                  </a:lnTo>
                  <a:close/>
                </a:path>
              </a:pathLst>
            </a:custGeom>
            <a:solidFill>
              <a:srgbClr val="000000">
                <a:alpha val="0"/>
              </a:srgbClr>
            </a:solidFill>
          </p:spPr>
        </p:sp>
        <p:sp>
          <p:nvSpPr>
            <p:cNvPr name="TextBox 7" id="7"/>
            <p:cNvSpPr txBox="true"/>
            <p:nvPr/>
          </p:nvSpPr>
          <p:spPr>
            <a:xfrm>
              <a:off x="0" y="-95250"/>
              <a:ext cx="10843203" cy="2190979"/>
            </a:xfrm>
            <a:prstGeom prst="rect">
              <a:avLst/>
            </a:prstGeom>
          </p:spPr>
          <p:txBody>
            <a:bodyPr anchor="ctr" rtlCol="false" tIns="0" lIns="0" bIns="0" rIns="0"/>
            <a:lstStyle/>
            <a:p>
              <a:pPr algn="l">
                <a:lnSpc>
                  <a:spcPts val="5517"/>
                </a:lnSpc>
              </a:pPr>
              <a:r>
                <a:rPr lang="en-US" sz="4599" b="true">
                  <a:solidFill>
                    <a:srgbClr val="B74A00"/>
                  </a:solidFill>
                  <a:latin typeface="Times New Roman MT Bold"/>
                  <a:ea typeface="Times New Roman MT Bold"/>
                  <a:cs typeface="Times New Roman MT Bold"/>
                  <a:sym typeface="Times New Roman MT Bold"/>
                </a:rPr>
                <a:t>Key R</a:t>
              </a:r>
              <a:r>
                <a:rPr lang="en-US" sz="4599" b="true">
                  <a:solidFill>
                    <a:srgbClr val="B74A00"/>
                  </a:solidFill>
                  <a:latin typeface="Times New Roman MT Bold"/>
                  <a:ea typeface="Times New Roman MT Bold"/>
                  <a:cs typeface="Times New Roman MT Bold"/>
                  <a:sym typeface="Times New Roman MT Bold"/>
                </a:rPr>
                <a:t>esearch Questions</a:t>
              </a:r>
            </a:p>
          </p:txBody>
        </p:sp>
      </p:grpSp>
      <p:grpSp>
        <p:nvGrpSpPr>
          <p:cNvPr name="Group 8" id="8"/>
          <p:cNvGrpSpPr/>
          <p:nvPr/>
        </p:nvGrpSpPr>
        <p:grpSpPr>
          <a:xfrm rot="0">
            <a:off x="44380" y="52412"/>
            <a:ext cx="2014538" cy="862584"/>
            <a:chOff x="0" y="0"/>
            <a:chExt cx="2686050" cy="1150112"/>
          </a:xfrm>
        </p:grpSpPr>
        <p:sp>
          <p:nvSpPr>
            <p:cNvPr name="Freeform 9" id="9"/>
            <p:cNvSpPr/>
            <p:nvPr/>
          </p:nvSpPr>
          <p:spPr>
            <a:xfrm flipH="false" flipV="false" rot="0">
              <a:off x="0" y="0"/>
              <a:ext cx="2686050" cy="1150112"/>
            </a:xfrm>
            <a:custGeom>
              <a:avLst/>
              <a:gdLst/>
              <a:ahLst/>
              <a:cxnLst/>
              <a:rect r="r" b="b" t="t" l="l"/>
              <a:pathLst>
                <a:path h="1150112" w="2686050">
                  <a:moveTo>
                    <a:pt x="0" y="0"/>
                  </a:moveTo>
                  <a:lnTo>
                    <a:pt x="2686050" y="0"/>
                  </a:lnTo>
                  <a:lnTo>
                    <a:pt x="2686050" y="1150112"/>
                  </a:lnTo>
                  <a:lnTo>
                    <a:pt x="0" y="1150112"/>
                  </a:lnTo>
                  <a:lnTo>
                    <a:pt x="0" y="0"/>
                  </a:lnTo>
                  <a:close/>
                </a:path>
              </a:pathLst>
            </a:custGeom>
            <a:blipFill>
              <a:blip r:embed="rId8"/>
              <a:stretch>
                <a:fillRect l="0" t="-45" r="0" b="-45"/>
              </a:stretch>
            </a:blipFill>
          </p:spPr>
        </p:sp>
      </p:grpSp>
      <p:grpSp>
        <p:nvGrpSpPr>
          <p:cNvPr name="Group 10" id="10"/>
          <p:cNvGrpSpPr/>
          <p:nvPr/>
        </p:nvGrpSpPr>
        <p:grpSpPr>
          <a:xfrm rot="0">
            <a:off x="13887450" y="9610725"/>
            <a:ext cx="4114800" cy="604838"/>
            <a:chOff x="0" y="0"/>
            <a:chExt cx="5486400" cy="806451"/>
          </a:xfrm>
        </p:grpSpPr>
        <p:sp>
          <p:nvSpPr>
            <p:cNvPr name="Freeform 11" id="11"/>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12" id="12"/>
            <p:cNvSpPr txBox="true"/>
            <p:nvPr/>
          </p:nvSpPr>
          <p:spPr>
            <a:xfrm>
              <a:off x="0" y="-38100"/>
              <a:ext cx="5486400" cy="844551"/>
            </a:xfrm>
            <a:prstGeom prst="rect">
              <a:avLst/>
            </a:prstGeom>
          </p:spPr>
          <p:txBody>
            <a:bodyPr anchor="ctr" rtlCol="false" tIns="0" lIns="0" bIns="0" rIns="0"/>
            <a:lstStyle/>
            <a:p>
              <a:pPr algn="r">
                <a:lnSpc>
                  <a:spcPts val="2160"/>
                </a:lnSpc>
              </a:pPr>
              <a:r>
                <a:rPr lang="en-US" sz="1800" b="true">
                  <a:solidFill>
                    <a:srgbClr val="FFFFFF"/>
                  </a:solidFill>
                  <a:latin typeface="Calibri (MS) Bold"/>
                  <a:ea typeface="Calibri (MS) Bold"/>
                  <a:cs typeface="Calibri (MS) Bold"/>
                  <a:sym typeface="Calibri (MS) Bold"/>
                </a:rPr>
                <a:t>6</a:t>
              </a:r>
            </a:p>
          </p:txBody>
        </p:sp>
      </p:grpSp>
      <p:sp>
        <p:nvSpPr>
          <p:cNvPr name="Freeform 13" id="13"/>
          <p:cNvSpPr/>
          <p:nvPr/>
        </p:nvSpPr>
        <p:spPr>
          <a:xfrm flipH="false" flipV="false" rot="0">
            <a:off x="1117524" y="2437513"/>
            <a:ext cx="14827326" cy="5411974"/>
          </a:xfrm>
          <a:custGeom>
            <a:avLst/>
            <a:gdLst/>
            <a:ahLst/>
            <a:cxnLst/>
            <a:rect r="r" b="b" t="t" l="l"/>
            <a:pathLst>
              <a:path h="5411974" w="14827326">
                <a:moveTo>
                  <a:pt x="0" y="0"/>
                </a:moveTo>
                <a:lnTo>
                  <a:pt x="14827326" y="0"/>
                </a:lnTo>
                <a:lnTo>
                  <a:pt x="14827326" y="5411974"/>
                </a:lnTo>
                <a:lnTo>
                  <a:pt x="0" y="5411974"/>
                </a:lnTo>
                <a:lnTo>
                  <a:pt x="0" y="0"/>
                </a:lnTo>
                <a:close/>
              </a:path>
            </a:pathLst>
          </a:custGeom>
          <a:blipFill>
            <a:blip r:embed="rId9"/>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48" y="9574476"/>
            <a:ext cx="18288000" cy="714375"/>
          </a:xfrm>
          <a:custGeom>
            <a:avLst/>
            <a:gdLst/>
            <a:ahLst/>
            <a:cxnLst/>
            <a:rect r="r" b="b" t="t" l="l"/>
            <a:pathLst>
              <a:path h="714375" w="18288000">
                <a:moveTo>
                  <a:pt x="0" y="0"/>
                </a:moveTo>
                <a:lnTo>
                  <a:pt x="18288000" y="0"/>
                </a:lnTo>
                <a:lnTo>
                  <a:pt x="18288000" y="714375"/>
                </a:lnTo>
                <a:lnTo>
                  <a:pt x="0" y="714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9372" y="9735822"/>
            <a:ext cx="6371483" cy="410199"/>
          </a:xfrm>
          <a:custGeom>
            <a:avLst/>
            <a:gdLst/>
            <a:ahLst/>
            <a:cxnLst/>
            <a:rect r="r" b="b" t="t" l="l"/>
            <a:pathLst>
              <a:path h="410199" w="6371483">
                <a:moveTo>
                  <a:pt x="0" y="0"/>
                </a:moveTo>
                <a:lnTo>
                  <a:pt x="6371483" y="0"/>
                </a:lnTo>
                <a:lnTo>
                  <a:pt x="6371483" y="410199"/>
                </a:lnTo>
                <a:lnTo>
                  <a:pt x="0" y="410199"/>
                </a:lnTo>
                <a:lnTo>
                  <a:pt x="0" y="0"/>
                </a:lnTo>
                <a:close/>
              </a:path>
            </a:pathLst>
          </a:custGeom>
          <a:blipFill>
            <a:blip r:embed="rId4">
              <a:extLst>
                <a:ext uri="{96DAC541-7B7A-43D3-8B79-37D633B846F1}">
                  <asvg:svgBlip xmlns:asvg="http://schemas.microsoft.com/office/drawing/2016/SVG/main" r:embed="rId5"/>
                </a:ext>
              </a:extLst>
            </a:blip>
            <a:stretch>
              <a:fillRect l="0" t="-1079" r="0" b="-1079"/>
            </a:stretch>
          </a:blipFill>
        </p:spPr>
      </p:sp>
      <p:sp>
        <p:nvSpPr>
          <p:cNvPr name="Freeform 4" id="4"/>
          <p:cNvSpPr/>
          <p:nvPr/>
        </p:nvSpPr>
        <p:spPr>
          <a:xfrm flipH="false" flipV="false" rot="0">
            <a:off x="0" y="-144661"/>
            <a:ext cx="18288000" cy="9719137"/>
          </a:xfrm>
          <a:custGeom>
            <a:avLst/>
            <a:gdLst/>
            <a:ahLst/>
            <a:cxnLst/>
            <a:rect r="r" b="b" t="t" l="l"/>
            <a:pathLst>
              <a:path h="9719137" w="18288000">
                <a:moveTo>
                  <a:pt x="0" y="0"/>
                </a:moveTo>
                <a:lnTo>
                  <a:pt x="18288000" y="0"/>
                </a:lnTo>
                <a:lnTo>
                  <a:pt x="18288000" y="9719137"/>
                </a:lnTo>
                <a:lnTo>
                  <a:pt x="0" y="9719137"/>
                </a:lnTo>
                <a:lnTo>
                  <a:pt x="0" y="0"/>
                </a:lnTo>
                <a:close/>
              </a:path>
            </a:pathLst>
          </a:custGeom>
          <a:blipFill>
            <a:blip r:embed="rId6">
              <a:extLst>
                <a:ext uri="{96DAC541-7B7A-43D3-8B79-37D633B846F1}">
                  <asvg:svgBlip xmlns:asvg="http://schemas.microsoft.com/office/drawing/2016/SVG/main" r:embed="rId7"/>
                </a:ext>
              </a:extLst>
            </a:blip>
            <a:stretch>
              <a:fillRect l="0" t="-30" r="0" b="-30"/>
            </a:stretch>
          </a:blipFill>
        </p:spPr>
      </p:sp>
      <p:grpSp>
        <p:nvGrpSpPr>
          <p:cNvPr name="Group 5" id="5"/>
          <p:cNvGrpSpPr/>
          <p:nvPr/>
        </p:nvGrpSpPr>
        <p:grpSpPr>
          <a:xfrm rot="0">
            <a:off x="1028700" y="1028700"/>
            <a:ext cx="10114117" cy="1586657"/>
            <a:chOff x="0" y="0"/>
            <a:chExt cx="13485489" cy="2115543"/>
          </a:xfrm>
        </p:grpSpPr>
        <p:sp>
          <p:nvSpPr>
            <p:cNvPr name="Freeform 6" id="6"/>
            <p:cNvSpPr/>
            <p:nvPr/>
          </p:nvSpPr>
          <p:spPr>
            <a:xfrm flipH="false" flipV="false" rot="0">
              <a:off x="0" y="0"/>
              <a:ext cx="13485488" cy="2115543"/>
            </a:xfrm>
            <a:custGeom>
              <a:avLst/>
              <a:gdLst/>
              <a:ahLst/>
              <a:cxnLst/>
              <a:rect r="r" b="b" t="t" l="l"/>
              <a:pathLst>
                <a:path h="2115543" w="13485488">
                  <a:moveTo>
                    <a:pt x="0" y="0"/>
                  </a:moveTo>
                  <a:lnTo>
                    <a:pt x="13485488" y="0"/>
                  </a:lnTo>
                  <a:lnTo>
                    <a:pt x="13485488" y="2115543"/>
                  </a:lnTo>
                  <a:lnTo>
                    <a:pt x="0" y="2115543"/>
                  </a:lnTo>
                  <a:close/>
                </a:path>
              </a:pathLst>
            </a:custGeom>
            <a:solidFill>
              <a:srgbClr val="000000">
                <a:alpha val="0"/>
              </a:srgbClr>
            </a:solidFill>
          </p:spPr>
        </p:sp>
        <p:sp>
          <p:nvSpPr>
            <p:cNvPr name="TextBox 7" id="7"/>
            <p:cNvSpPr txBox="true"/>
            <p:nvPr/>
          </p:nvSpPr>
          <p:spPr>
            <a:xfrm>
              <a:off x="0" y="-95250"/>
              <a:ext cx="13485489" cy="2210793"/>
            </a:xfrm>
            <a:prstGeom prst="rect">
              <a:avLst/>
            </a:prstGeom>
          </p:spPr>
          <p:txBody>
            <a:bodyPr anchor="ctr" rtlCol="false" tIns="0" lIns="0" bIns="0" rIns="0"/>
            <a:lstStyle/>
            <a:p>
              <a:pPr algn="l">
                <a:lnSpc>
                  <a:spcPts val="5514"/>
                </a:lnSpc>
              </a:pPr>
              <a:r>
                <a:rPr lang="en-US" sz="4599" b="true">
                  <a:solidFill>
                    <a:srgbClr val="595959"/>
                  </a:solidFill>
                  <a:latin typeface="Times New Roman MT Bold"/>
                  <a:ea typeface="Times New Roman MT Bold"/>
                  <a:cs typeface="Times New Roman MT Bold"/>
                  <a:sym typeface="Times New Roman MT Bold"/>
                </a:rPr>
                <a:t>Data Pr</a:t>
              </a:r>
              <a:r>
                <a:rPr lang="en-US" sz="4599" b="true">
                  <a:solidFill>
                    <a:srgbClr val="595959"/>
                  </a:solidFill>
                  <a:latin typeface="Times New Roman MT Bold"/>
                  <a:ea typeface="Times New Roman MT Bold"/>
                  <a:cs typeface="Times New Roman MT Bold"/>
                  <a:sym typeface="Times New Roman MT Bold"/>
                </a:rPr>
                <a:t>eparation and Quality Assurance</a:t>
              </a:r>
            </a:p>
            <a:p>
              <a:pPr algn="l">
                <a:lnSpc>
                  <a:spcPts val="5517"/>
                </a:lnSpc>
              </a:pPr>
            </a:p>
          </p:txBody>
        </p:sp>
      </p:grpSp>
      <p:sp>
        <p:nvSpPr>
          <p:cNvPr name="Freeform 8" id="8"/>
          <p:cNvSpPr/>
          <p:nvPr/>
        </p:nvSpPr>
        <p:spPr>
          <a:xfrm flipH="false" flipV="false" rot="0">
            <a:off x="623431" y="1461248"/>
            <a:ext cx="1070106" cy="1039200"/>
          </a:xfrm>
          <a:custGeom>
            <a:avLst/>
            <a:gdLst/>
            <a:ahLst/>
            <a:cxnLst/>
            <a:rect r="r" b="b" t="t" l="l"/>
            <a:pathLst>
              <a:path h="1039200" w="1070106">
                <a:moveTo>
                  <a:pt x="0" y="0"/>
                </a:moveTo>
                <a:lnTo>
                  <a:pt x="1070106" y="0"/>
                </a:lnTo>
                <a:lnTo>
                  <a:pt x="1070106" y="1039200"/>
                </a:lnTo>
                <a:lnTo>
                  <a:pt x="0" y="1039200"/>
                </a:lnTo>
                <a:lnTo>
                  <a:pt x="0" y="0"/>
                </a:lnTo>
                <a:close/>
              </a:path>
            </a:pathLst>
          </a:custGeom>
          <a:blipFill>
            <a:blip r:embed="rId8">
              <a:extLst>
                <a:ext uri="{96DAC541-7B7A-43D3-8B79-37D633B846F1}">
                  <asvg:svgBlip xmlns:asvg="http://schemas.microsoft.com/office/drawing/2016/SVG/main" r:embed="rId9"/>
                </a:ext>
              </a:extLst>
            </a:blip>
            <a:stretch>
              <a:fillRect l="0" t="-120" r="0" b="-120"/>
            </a:stretch>
          </a:blipFill>
        </p:spPr>
      </p:sp>
      <p:grpSp>
        <p:nvGrpSpPr>
          <p:cNvPr name="Group 9" id="9"/>
          <p:cNvGrpSpPr/>
          <p:nvPr/>
        </p:nvGrpSpPr>
        <p:grpSpPr>
          <a:xfrm rot="0">
            <a:off x="44380" y="52412"/>
            <a:ext cx="2014538" cy="862584"/>
            <a:chOff x="0" y="0"/>
            <a:chExt cx="2686050" cy="1150112"/>
          </a:xfrm>
        </p:grpSpPr>
        <p:sp>
          <p:nvSpPr>
            <p:cNvPr name="Freeform 10" id="10"/>
            <p:cNvSpPr/>
            <p:nvPr/>
          </p:nvSpPr>
          <p:spPr>
            <a:xfrm flipH="false" flipV="false" rot="0">
              <a:off x="0" y="0"/>
              <a:ext cx="2686050" cy="1150112"/>
            </a:xfrm>
            <a:custGeom>
              <a:avLst/>
              <a:gdLst/>
              <a:ahLst/>
              <a:cxnLst/>
              <a:rect r="r" b="b" t="t" l="l"/>
              <a:pathLst>
                <a:path h="1150112" w="2686050">
                  <a:moveTo>
                    <a:pt x="0" y="0"/>
                  </a:moveTo>
                  <a:lnTo>
                    <a:pt x="2686050" y="0"/>
                  </a:lnTo>
                  <a:lnTo>
                    <a:pt x="2686050" y="1150112"/>
                  </a:lnTo>
                  <a:lnTo>
                    <a:pt x="0" y="1150112"/>
                  </a:lnTo>
                  <a:lnTo>
                    <a:pt x="0" y="0"/>
                  </a:lnTo>
                  <a:close/>
                </a:path>
              </a:pathLst>
            </a:custGeom>
            <a:blipFill>
              <a:blip r:embed="rId10"/>
              <a:stretch>
                <a:fillRect l="0" t="-45" r="0" b="-45"/>
              </a:stretch>
            </a:blipFill>
          </p:spPr>
        </p:sp>
      </p:grpSp>
      <p:grpSp>
        <p:nvGrpSpPr>
          <p:cNvPr name="Group 11" id="11"/>
          <p:cNvGrpSpPr/>
          <p:nvPr/>
        </p:nvGrpSpPr>
        <p:grpSpPr>
          <a:xfrm rot="0">
            <a:off x="13887450" y="9610725"/>
            <a:ext cx="4114800" cy="604838"/>
            <a:chOff x="0" y="0"/>
            <a:chExt cx="5486400" cy="806451"/>
          </a:xfrm>
        </p:grpSpPr>
        <p:sp>
          <p:nvSpPr>
            <p:cNvPr name="Freeform 12" id="12"/>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13" id="13"/>
            <p:cNvSpPr txBox="true"/>
            <p:nvPr/>
          </p:nvSpPr>
          <p:spPr>
            <a:xfrm>
              <a:off x="0" y="-38100"/>
              <a:ext cx="5486400" cy="844551"/>
            </a:xfrm>
            <a:prstGeom prst="rect">
              <a:avLst/>
            </a:prstGeom>
          </p:spPr>
          <p:txBody>
            <a:bodyPr anchor="ctr" rtlCol="false" tIns="0" lIns="0" bIns="0" rIns="0"/>
            <a:lstStyle/>
            <a:p>
              <a:pPr algn="r">
                <a:lnSpc>
                  <a:spcPts val="2160"/>
                </a:lnSpc>
              </a:pPr>
              <a:r>
                <a:rPr lang="en-US" sz="1800" b="true">
                  <a:solidFill>
                    <a:srgbClr val="FFFFFF"/>
                  </a:solidFill>
                  <a:latin typeface="Calibri (MS) Bold"/>
                  <a:ea typeface="Calibri (MS) Bold"/>
                  <a:cs typeface="Calibri (MS) Bold"/>
                  <a:sym typeface="Calibri (MS) Bold"/>
                </a:rPr>
                <a:t>7</a:t>
              </a:r>
            </a:p>
          </p:txBody>
        </p:sp>
      </p:grpSp>
      <p:sp>
        <p:nvSpPr>
          <p:cNvPr name="Freeform 14" id="14"/>
          <p:cNvSpPr/>
          <p:nvPr/>
        </p:nvSpPr>
        <p:spPr>
          <a:xfrm flipH="false" flipV="false" rot="0">
            <a:off x="1667807" y="2302025"/>
            <a:ext cx="14952386" cy="7006774"/>
          </a:xfrm>
          <a:custGeom>
            <a:avLst/>
            <a:gdLst/>
            <a:ahLst/>
            <a:cxnLst/>
            <a:rect r="r" b="b" t="t" l="l"/>
            <a:pathLst>
              <a:path h="7006774" w="14952386">
                <a:moveTo>
                  <a:pt x="0" y="0"/>
                </a:moveTo>
                <a:lnTo>
                  <a:pt x="14952386" y="0"/>
                </a:lnTo>
                <a:lnTo>
                  <a:pt x="14952386" y="7006774"/>
                </a:lnTo>
                <a:lnTo>
                  <a:pt x="0" y="7006774"/>
                </a:lnTo>
                <a:lnTo>
                  <a:pt x="0" y="0"/>
                </a:lnTo>
                <a:close/>
              </a:path>
            </a:pathLst>
          </a:custGeom>
          <a:blipFill>
            <a:blip r:embed="rId11"/>
            <a:stretch>
              <a:fillRect l="0" t="-1631"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48" y="9574476"/>
            <a:ext cx="18288000" cy="714375"/>
          </a:xfrm>
          <a:custGeom>
            <a:avLst/>
            <a:gdLst/>
            <a:ahLst/>
            <a:cxnLst/>
            <a:rect r="r" b="b" t="t" l="l"/>
            <a:pathLst>
              <a:path h="714375" w="18288000">
                <a:moveTo>
                  <a:pt x="0" y="0"/>
                </a:moveTo>
                <a:lnTo>
                  <a:pt x="18288000" y="0"/>
                </a:lnTo>
                <a:lnTo>
                  <a:pt x="18288000" y="714375"/>
                </a:lnTo>
                <a:lnTo>
                  <a:pt x="0" y="714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9372" y="9735822"/>
            <a:ext cx="6371483" cy="410199"/>
          </a:xfrm>
          <a:custGeom>
            <a:avLst/>
            <a:gdLst/>
            <a:ahLst/>
            <a:cxnLst/>
            <a:rect r="r" b="b" t="t" l="l"/>
            <a:pathLst>
              <a:path h="410199" w="6371483">
                <a:moveTo>
                  <a:pt x="0" y="0"/>
                </a:moveTo>
                <a:lnTo>
                  <a:pt x="6371483" y="0"/>
                </a:lnTo>
                <a:lnTo>
                  <a:pt x="6371483" y="410199"/>
                </a:lnTo>
                <a:lnTo>
                  <a:pt x="0" y="410199"/>
                </a:lnTo>
                <a:lnTo>
                  <a:pt x="0" y="0"/>
                </a:lnTo>
                <a:close/>
              </a:path>
            </a:pathLst>
          </a:custGeom>
          <a:blipFill>
            <a:blip r:embed="rId4">
              <a:extLst>
                <a:ext uri="{96DAC541-7B7A-43D3-8B79-37D633B846F1}">
                  <asvg:svgBlip xmlns:asvg="http://schemas.microsoft.com/office/drawing/2016/SVG/main" r:embed="rId5"/>
                </a:ext>
              </a:extLst>
            </a:blip>
            <a:stretch>
              <a:fillRect l="0" t="-1079" r="0" b="-1079"/>
            </a:stretch>
          </a:blipFill>
        </p:spPr>
      </p:sp>
      <p:sp>
        <p:nvSpPr>
          <p:cNvPr name="Freeform 4" id="4"/>
          <p:cNvSpPr/>
          <p:nvPr/>
        </p:nvSpPr>
        <p:spPr>
          <a:xfrm flipH="false" flipV="false" rot="0">
            <a:off x="0" y="-144661"/>
            <a:ext cx="18288000" cy="9719137"/>
          </a:xfrm>
          <a:custGeom>
            <a:avLst/>
            <a:gdLst/>
            <a:ahLst/>
            <a:cxnLst/>
            <a:rect r="r" b="b" t="t" l="l"/>
            <a:pathLst>
              <a:path h="9719137" w="18288000">
                <a:moveTo>
                  <a:pt x="0" y="0"/>
                </a:moveTo>
                <a:lnTo>
                  <a:pt x="18288000" y="0"/>
                </a:lnTo>
                <a:lnTo>
                  <a:pt x="18288000" y="9719137"/>
                </a:lnTo>
                <a:lnTo>
                  <a:pt x="0" y="9719137"/>
                </a:lnTo>
                <a:lnTo>
                  <a:pt x="0" y="0"/>
                </a:lnTo>
                <a:close/>
              </a:path>
            </a:pathLst>
          </a:custGeom>
          <a:blipFill>
            <a:blip r:embed="rId6">
              <a:extLst>
                <a:ext uri="{96DAC541-7B7A-43D3-8B79-37D633B846F1}">
                  <asvg:svgBlip xmlns:asvg="http://schemas.microsoft.com/office/drawing/2016/SVG/main" r:embed="rId7"/>
                </a:ext>
              </a:extLst>
            </a:blip>
            <a:stretch>
              <a:fillRect l="0" t="-30" r="0" b="-30"/>
            </a:stretch>
          </a:blipFill>
        </p:spPr>
      </p:sp>
      <p:grpSp>
        <p:nvGrpSpPr>
          <p:cNvPr name="Group 5" id="5"/>
          <p:cNvGrpSpPr/>
          <p:nvPr/>
        </p:nvGrpSpPr>
        <p:grpSpPr>
          <a:xfrm rot="0">
            <a:off x="1051649" y="1028700"/>
            <a:ext cx="11550981" cy="1571797"/>
            <a:chOff x="0" y="0"/>
            <a:chExt cx="15401308" cy="2095729"/>
          </a:xfrm>
        </p:grpSpPr>
        <p:sp>
          <p:nvSpPr>
            <p:cNvPr name="Freeform 6" id="6"/>
            <p:cNvSpPr/>
            <p:nvPr/>
          </p:nvSpPr>
          <p:spPr>
            <a:xfrm flipH="false" flipV="false" rot="0">
              <a:off x="0" y="0"/>
              <a:ext cx="15401310" cy="2095729"/>
            </a:xfrm>
            <a:custGeom>
              <a:avLst/>
              <a:gdLst/>
              <a:ahLst/>
              <a:cxnLst/>
              <a:rect r="r" b="b" t="t" l="l"/>
              <a:pathLst>
                <a:path h="2095729" w="15401310">
                  <a:moveTo>
                    <a:pt x="0" y="0"/>
                  </a:moveTo>
                  <a:lnTo>
                    <a:pt x="15401310" y="0"/>
                  </a:lnTo>
                  <a:lnTo>
                    <a:pt x="15401310" y="2095729"/>
                  </a:lnTo>
                  <a:lnTo>
                    <a:pt x="0" y="2095729"/>
                  </a:lnTo>
                  <a:close/>
                </a:path>
              </a:pathLst>
            </a:custGeom>
            <a:solidFill>
              <a:srgbClr val="000000">
                <a:alpha val="0"/>
              </a:srgbClr>
            </a:solidFill>
          </p:spPr>
        </p:sp>
        <p:sp>
          <p:nvSpPr>
            <p:cNvPr name="TextBox 7" id="7"/>
            <p:cNvSpPr txBox="true"/>
            <p:nvPr/>
          </p:nvSpPr>
          <p:spPr>
            <a:xfrm>
              <a:off x="0" y="-95250"/>
              <a:ext cx="15401308" cy="2190979"/>
            </a:xfrm>
            <a:prstGeom prst="rect">
              <a:avLst/>
            </a:prstGeom>
          </p:spPr>
          <p:txBody>
            <a:bodyPr anchor="ctr" rtlCol="false" tIns="0" lIns="0" bIns="0" rIns="0"/>
            <a:lstStyle/>
            <a:p>
              <a:pPr algn="l">
                <a:lnSpc>
                  <a:spcPts val="5517"/>
                </a:lnSpc>
              </a:pPr>
              <a:r>
                <a:rPr lang="en-US" sz="4599" b="true">
                  <a:solidFill>
                    <a:srgbClr val="00B050"/>
                  </a:solidFill>
                  <a:latin typeface="Times New Roman MT Bold"/>
                  <a:ea typeface="Times New Roman MT Bold"/>
                  <a:cs typeface="Times New Roman MT Bold"/>
                  <a:sym typeface="Times New Roman MT Bold"/>
                </a:rPr>
                <a:t>Mach</a:t>
              </a:r>
              <a:r>
                <a:rPr lang="en-US" sz="4599" b="true">
                  <a:solidFill>
                    <a:srgbClr val="00B050"/>
                  </a:solidFill>
                  <a:latin typeface="Times New Roman MT Bold"/>
                  <a:ea typeface="Times New Roman MT Bold"/>
                  <a:cs typeface="Times New Roman MT Bold"/>
                  <a:sym typeface="Times New Roman MT Bold"/>
                </a:rPr>
                <a:t>ine Learning Models Summary</a:t>
              </a:r>
            </a:p>
          </p:txBody>
        </p:sp>
      </p:grpSp>
      <p:grpSp>
        <p:nvGrpSpPr>
          <p:cNvPr name="Group 8" id="8"/>
          <p:cNvGrpSpPr/>
          <p:nvPr/>
        </p:nvGrpSpPr>
        <p:grpSpPr>
          <a:xfrm rot="0">
            <a:off x="44380" y="52412"/>
            <a:ext cx="2014538" cy="862584"/>
            <a:chOff x="0" y="0"/>
            <a:chExt cx="2686050" cy="1150112"/>
          </a:xfrm>
        </p:grpSpPr>
        <p:sp>
          <p:nvSpPr>
            <p:cNvPr name="Freeform 9" id="9"/>
            <p:cNvSpPr/>
            <p:nvPr/>
          </p:nvSpPr>
          <p:spPr>
            <a:xfrm flipH="false" flipV="false" rot="0">
              <a:off x="0" y="0"/>
              <a:ext cx="2686050" cy="1150112"/>
            </a:xfrm>
            <a:custGeom>
              <a:avLst/>
              <a:gdLst/>
              <a:ahLst/>
              <a:cxnLst/>
              <a:rect r="r" b="b" t="t" l="l"/>
              <a:pathLst>
                <a:path h="1150112" w="2686050">
                  <a:moveTo>
                    <a:pt x="0" y="0"/>
                  </a:moveTo>
                  <a:lnTo>
                    <a:pt x="2686050" y="0"/>
                  </a:lnTo>
                  <a:lnTo>
                    <a:pt x="2686050" y="1150112"/>
                  </a:lnTo>
                  <a:lnTo>
                    <a:pt x="0" y="1150112"/>
                  </a:lnTo>
                  <a:lnTo>
                    <a:pt x="0" y="0"/>
                  </a:lnTo>
                  <a:close/>
                </a:path>
              </a:pathLst>
            </a:custGeom>
            <a:blipFill>
              <a:blip r:embed="rId8"/>
              <a:stretch>
                <a:fillRect l="0" t="-45" r="0" b="-45"/>
              </a:stretch>
            </a:blipFill>
          </p:spPr>
        </p:sp>
      </p:grpSp>
      <p:grpSp>
        <p:nvGrpSpPr>
          <p:cNvPr name="Group 10" id="10"/>
          <p:cNvGrpSpPr/>
          <p:nvPr/>
        </p:nvGrpSpPr>
        <p:grpSpPr>
          <a:xfrm rot="0">
            <a:off x="13887450" y="9610725"/>
            <a:ext cx="4114800" cy="604838"/>
            <a:chOff x="0" y="0"/>
            <a:chExt cx="5486400" cy="806451"/>
          </a:xfrm>
        </p:grpSpPr>
        <p:sp>
          <p:nvSpPr>
            <p:cNvPr name="Freeform 11" id="11"/>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12" id="12"/>
            <p:cNvSpPr txBox="true"/>
            <p:nvPr/>
          </p:nvSpPr>
          <p:spPr>
            <a:xfrm>
              <a:off x="0" y="-38100"/>
              <a:ext cx="5486400" cy="844551"/>
            </a:xfrm>
            <a:prstGeom prst="rect">
              <a:avLst/>
            </a:prstGeom>
          </p:spPr>
          <p:txBody>
            <a:bodyPr anchor="ctr" rtlCol="false" tIns="0" lIns="0" bIns="0" rIns="0"/>
            <a:lstStyle/>
            <a:p>
              <a:pPr algn="r">
                <a:lnSpc>
                  <a:spcPts val="2160"/>
                </a:lnSpc>
              </a:pPr>
              <a:r>
                <a:rPr lang="en-US" sz="1800" b="true">
                  <a:solidFill>
                    <a:srgbClr val="FFFFFF"/>
                  </a:solidFill>
                  <a:latin typeface="Calibri (MS) Bold"/>
                  <a:ea typeface="Calibri (MS) Bold"/>
                  <a:cs typeface="Calibri (MS) Bold"/>
                  <a:sym typeface="Calibri (MS) Bold"/>
                </a:rPr>
                <a:t>8</a:t>
              </a:r>
            </a:p>
          </p:txBody>
        </p:sp>
      </p:grpSp>
      <p:sp>
        <p:nvSpPr>
          <p:cNvPr name="Freeform 13" id="13"/>
          <p:cNvSpPr/>
          <p:nvPr/>
        </p:nvSpPr>
        <p:spPr>
          <a:xfrm flipH="false" flipV="false" rot="0">
            <a:off x="2134300" y="2362222"/>
            <a:ext cx="14709285" cy="5876479"/>
          </a:xfrm>
          <a:custGeom>
            <a:avLst/>
            <a:gdLst/>
            <a:ahLst/>
            <a:cxnLst/>
            <a:rect r="r" b="b" t="t" l="l"/>
            <a:pathLst>
              <a:path h="5876479" w="14709285">
                <a:moveTo>
                  <a:pt x="0" y="0"/>
                </a:moveTo>
                <a:lnTo>
                  <a:pt x="14709285" y="0"/>
                </a:lnTo>
                <a:lnTo>
                  <a:pt x="14709285" y="5876479"/>
                </a:lnTo>
                <a:lnTo>
                  <a:pt x="0" y="5876479"/>
                </a:lnTo>
                <a:lnTo>
                  <a:pt x="0" y="0"/>
                </a:lnTo>
                <a:close/>
              </a:path>
            </a:pathLst>
          </a:custGeom>
          <a:blipFill>
            <a:blip r:embed="rId9"/>
            <a:stretch>
              <a:fillRect l="-512" t="-1140" r="-740" b="-2137"/>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48" y="9574476"/>
            <a:ext cx="18288000" cy="714375"/>
          </a:xfrm>
          <a:custGeom>
            <a:avLst/>
            <a:gdLst/>
            <a:ahLst/>
            <a:cxnLst/>
            <a:rect r="r" b="b" t="t" l="l"/>
            <a:pathLst>
              <a:path h="714375" w="18288000">
                <a:moveTo>
                  <a:pt x="0" y="0"/>
                </a:moveTo>
                <a:lnTo>
                  <a:pt x="18288000" y="0"/>
                </a:lnTo>
                <a:lnTo>
                  <a:pt x="18288000" y="714375"/>
                </a:lnTo>
                <a:lnTo>
                  <a:pt x="0" y="714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9372" y="9735822"/>
            <a:ext cx="6371483" cy="410199"/>
          </a:xfrm>
          <a:custGeom>
            <a:avLst/>
            <a:gdLst/>
            <a:ahLst/>
            <a:cxnLst/>
            <a:rect r="r" b="b" t="t" l="l"/>
            <a:pathLst>
              <a:path h="410199" w="6371483">
                <a:moveTo>
                  <a:pt x="0" y="0"/>
                </a:moveTo>
                <a:lnTo>
                  <a:pt x="6371483" y="0"/>
                </a:lnTo>
                <a:lnTo>
                  <a:pt x="6371483" y="410199"/>
                </a:lnTo>
                <a:lnTo>
                  <a:pt x="0" y="410199"/>
                </a:lnTo>
                <a:lnTo>
                  <a:pt x="0" y="0"/>
                </a:lnTo>
                <a:close/>
              </a:path>
            </a:pathLst>
          </a:custGeom>
          <a:blipFill>
            <a:blip r:embed="rId4">
              <a:extLst>
                <a:ext uri="{96DAC541-7B7A-43D3-8B79-37D633B846F1}">
                  <asvg:svgBlip xmlns:asvg="http://schemas.microsoft.com/office/drawing/2016/SVG/main" r:embed="rId5"/>
                </a:ext>
              </a:extLst>
            </a:blip>
            <a:stretch>
              <a:fillRect l="0" t="-1079" r="0" b="-1079"/>
            </a:stretch>
          </a:blipFill>
        </p:spPr>
      </p:sp>
      <p:sp>
        <p:nvSpPr>
          <p:cNvPr name="Freeform 4" id="4"/>
          <p:cNvSpPr/>
          <p:nvPr/>
        </p:nvSpPr>
        <p:spPr>
          <a:xfrm flipH="false" flipV="false" rot="0">
            <a:off x="0" y="-144661"/>
            <a:ext cx="18288000" cy="9719137"/>
          </a:xfrm>
          <a:custGeom>
            <a:avLst/>
            <a:gdLst/>
            <a:ahLst/>
            <a:cxnLst/>
            <a:rect r="r" b="b" t="t" l="l"/>
            <a:pathLst>
              <a:path h="9719137" w="18288000">
                <a:moveTo>
                  <a:pt x="0" y="0"/>
                </a:moveTo>
                <a:lnTo>
                  <a:pt x="18288000" y="0"/>
                </a:lnTo>
                <a:lnTo>
                  <a:pt x="18288000" y="9719137"/>
                </a:lnTo>
                <a:lnTo>
                  <a:pt x="0" y="9719137"/>
                </a:lnTo>
                <a:lnTo>
                  <a:pt x="0" y="0"/>
                </a:lnTo>
                <a:close/>
              </a:path>
            </a:pathLst>
          </a:custGeom>
          <a:blipFill>
            <a:blip r:embed="rId6">
              <a:extLst>
                <a:ext uri="{96DAC541-7B7A-43D3-8B79-37D633B846F1}">
                  <asvg:svgBlip xmlns:asvg="http://schemas.microsoft.com/office/drawing/2016/SVG/main" r:embed="rId7"/>
                </a:ext>
              </a:extLst>
            </a:blip>
            <a:stretch>
              <a:fillRect l="0" t="-30" r="0" b="-30"/>
            </a:stretch>
          </a:blipFill>
        </p:spPr>
      </p:sp>
      <p:grpSp>
        <p:nvGrpSpPr>
          <p:cNvPr name="Group 5" id="5"/>
          <p:cNvGrpSpPr/>
          <p:nvPr/>
        </p:nvGrpSpPr>
        <p:grpSpPr>
          <a:xfrm rot="0">
            <a:off x="1051649" y="1077015"/>
            <a:ext cx="14509209" cy="1571796"/>
            <a:chOff x="0" y="0"/>
            <a:chExt cx="19345612" cy="2095729"/>
          </a:xfrm>
        </p:grpSpPr>
        <p:sp>
          <p:nvSpPr>
            <p:cNvPr name="Freeform 6" id="6"/>
            <p:cNvSpPr/>
            <p:nvPr/>
          </p:nvSpPr>
          <p:spPr>
            <a:xfrm flipH="false" flipV="false" rot="0">
              <a:off x="0" y="0"/>
              <a:ext cx="19345611" cy="2095729"/>
            </a:xfrm>
            <a:custGeom>
              <a:avLst/>
              <a:gdLst/>
              <a:ahLst/>
              <a:cxnLst/>
              <a:rect r="r" b="b" t="t" l="l"/>
              <a:pathLst>
                <a:path h="2095729" w="19345611">
                  <a:moveTo>
                    <a:pt x="0" y="0"/>
                  </a:moveTo>
                  <a:lnTo>
                    <a:pt x="19345611" y="0"/>
                  </a:lnTo>
                  <a:lnTo>
                    <a:pt x="19345611" y="2095729"/>
                  </a:lnTo>
                  <a:lnTo>
                    <a:pt x="0" y="2095729"/>
                  </a:lnTo>
                  <a:close/>
                </a:path>
              </a:pathLst>
            </a:custGeom>
            <a:solidFill>
              <a:srgbClr val="000000">
                <a:alpha val="0"/>
              </a:srgbClr>
            </a:solidFill>
          </p:spPr>
        </p:sp>
        <p:sp>
          <p:nvSpPr>
            <p:cNvPr name="TextBox 7" id="7"/>
            <p:cNvSpPr txBox="true"/>
            <p:nvPr/>
          </p:nvSpPr>
          <p:spPr>
            <a:xfrm>
              <a:off x="0" y="-95250"/>
              <a:ext cx="19345612" cy="2190979"/>
            </a:xfrm>
            <a:prstGeom prst="rect">
              <a:avLst/>
            </a:prstGeom>
          </p:spPr>
          <p:txBody>
            <a:bodyPr anchor="ctr" rtlCol="false" tIns="0" lIns="0" bIns="0" rIns="0"/>
            <a:lstStyle/>
            <a:p>
              <a:pPr algn="just">
                <a:lnSpc>
                  <a:spcPts val="5517"/>
                </a:lnSpc>
              </a:pPr>
              <a:r>
                <a:rPr lang="en-US" sz="4599" b="true">
                  <a:solidFill>
                    <a:srgbClr val="123063"/>
                  </a:solidFill>
                  <a:latin typeface="Times New Roman MT Bold"/>
                  <a:ea typeface="Times New Roman MT Bold"/>
                  <a:cs typeface="Times New Roman MT Bold"/>
                  <a:sym typeface="Times New Roman MT Bold"/>
                </a:rPr>
                <a:t>K</a:t>
              </a:r>
              <a:r>
                <a:rPr lang="en-US" sz="4599" b="true">
                  <a:solidFill>
                    <a:srgbClr val="123063"/>
                  </a:solidFill>
                  <a:latin typeface="Times New Roman MT Bold"/>
                  <a:ea typeface="Times New Roman MT Bold"/>
                  <a:cs typeface="Times New Roman MT Bold"/>
                  <a:sym typeface="Times New Roman MT Bold"/>
                </a:rPr>
                <a:t>ey Insights and Strategic Recommendations</a:t>
              </a:r>
            </a:p>
          </p:txBody>
        </p:sp>
      </p:grpSp>
      <p:grpSp>
        <p:nvGrpSpPr>
          <p:cNvPr name="Group 8" id="8"/>
          <p:cNvGrpSpPr/>
          <p:nvPr/>
        </p:nvGrpSpPr>
        <p:grpSpPr>
          <a:xfrm rot="0">
            <a:off x="44380" y="52412"/>
            <a:ext cx="2014538" cy="862584"/>
            <a:chOff x="0" y="0"/>
            <a:chExt cx="2686050" cy="1150112"/>
          </a:xfrm>
        </p:grpSpPr>
        <p:sp>
          <p:nvSpPr>
            <p:cNvPr name="Freeform 9" id="9"/>
            <p:cNvSpPr/>
            <p:nvPr/>
          </p:nvSpPr>
          <p:spPr>
            <a:xfrm flipH="false" flipV="false" rot="0">
              <a:off x="0" y="0"/>
              <a:ext cx="2686050" cy="1150112"/>
            </a:xfrm>
            <a:custGeom>
              <a:avLst/>
              <a:gdLst/>
              <a:ahLst/>
              <a:cxnLst/>
              <a:rect r="r" b="b" t="t" l="l"/>
              <a:pathLst>
                <a:path h="1150112" w="2686050">
                  <a:moveTo>
                    <a:pt x="0" y="0"/>
                  </a:moveTo>
                  <a:lnTo>
                    <a:pt x="2686050" y="0"/>
                  </a:lnTo>
                  <a:lnTo>
                    <a:pt x="2686050" y="1150112"/>
                  </a:lnTo>
                  <a:lnTo>
                    <a:pt x="0" y="1150112"/>
                  </a:lnTo>
                  <a:lnTo>
                    <a:pt x="0" y="0"/>
                  </a:lnTo>
                  <a:close/>
                </a:path>
              </a:pathLst>
            </a:custGeom>
            <a:blipFill>
              <a:blip r:embed="rId8"/>
              <a:stretch>
                <a:fillRect l="0" t="-45" r="0" b="-45"/>
              </a:stretch>
            </a:blipFill>
          </p:spPr>
        </p:sp>
      </p:grpSp>
      <p:grpSp>
        <p:nvGrpSpPr>
          <p:cNvPr name="Group 10" id="10"/>
          <p:cNvGrpSpPr/>
          <p:nvPr/>
        </p:nvGrpSpPr>
        <p:grpSpPr>
          <a:xfrm rot="0">
            <a:off x="13887450" y="9610725"/>
            <a:ext cx="4114800" cy="535296"/>
            <a:chOff x="0" y="0"/>
            <a:chExt cx="5486400" cy="713728"/>
          </a:xfrm>
        </p:grpSpPr>
        <p:sp>
          <p:nvSpPr>
            <p:cNvPr name="Freeform 11" id="11"/>
            <p:cNvSpPr/>
            <p:nvPr/>
          </p:nvSpPr>
          <p:spPr>
            <a:xfrm flipH="false" flipV="false" rot="0">
              <a:off x="0" y="0"/>
              <a:ext cx="5486400" cy="713728"/>
            </a:xfrm>
            <a:custGeom>
              <a:avLst/>
              <a:gdLst/>
              <a:ahLst/>
              <a:cxnLst/>
              <a:rect r="r" b="b" t="t" l="l"/>
              <a:pathLst>
                <a:path h="713728" w="5486400">
                  <a:moveTo>
                    <a:pt x="0" y="0"/>
                  </a:moveTo>
                  <a:lnTo>
                    <a:pt x="5486400" y="0"/>
                  </a:lnTo>
                  <a:lnTo>
                    <a:pt x="5486400" y="713728"/>
                  </a:lnTo>
                  <a:lnTo>
                    <a:pt x="0" y="713728"/>
                  </a:lnTo>
                  <a:close/>
                </a:path>
              </a:pathLst>
            </a:custGeom>
            <a:solidFill>
              <a:srgbClr val="000000">
                <a:alpha val="0"/>
              </a:srgbClr>
            </a:solidFill>
          </p:spPr>
        </p:sp>
        <p:sp>
          <p:nvSpPr>
            <p:cNvPr name="TextBox 12" id="12"/>
            <p:cNvSpPr txBox="true"/>
            <p:nvPr/>
          </p:nvSpPr>
          <p:spPr>
            <a:xfrm>
              <a:off x="0" y="-38100"/>
              <a:ext cx="5486400" cy="751828"/>
            </a:xfrm>
            <a:prstGeom prst="rect">
              <a:avLst/>
            </a:prstGeom>
          </p:spPr>
          <p:txBody>
            <a:bodyPr anchor="ctr" rtlCol="false" tIns="0" lIns="0" bIns="0" rIns="0"/>
            <a:lstStyle/>
            <a:p>
              <a:pPr algn="r">
                <a:lnSpc>
                  <a:spcPts val="2160"/>
                </a:lnSpc>
              </a:pPr>
              <a:r>
                <a:rPr lang="en-US" sz="1800" b="true">
                  <a:solidFill>
                    <a:srgbClr val="FFFFFF"/>
                  </a:solidFill>
                  <a:latin typeface="Calibri (MS) Bold"/>
                  <a:ea typeface="Calibri (MS) Bold"/>
                  <a:cs typeface="Calibri (MS) Bold"/>
                  <a:sym typeface="Calibri (MS) Bold"/>
                </a:rPr>
                <a:t>9</a:t>
              </a:r>
            </a:p>
          </p:txBody>
        </p:sp>
      </p:grpSp>
      <p:sp>
        <p:nvSpPr>
          <p:cNvPr name="TextBox 13" id="13"/>
          <p:cNvSpPr txBox="true"/>
          <p:nvPr/>
        </p:nvSpPr>
        <p:spPr>
          <a:xfrm rot="0">
            <a:off x="1028700" y="2591661"/>
            <a:ext cx="7813878" cy="5924758"/>
          </a:xfrm>
          <a:prstGeom prst="rect">
            <a:avLst/>
          </a:prstGeom>
        </p:spPr>
        <p:txBody>
          <a:bodyPr anchor="t" rtlCol="false" tIns="0" lIns="0" bIns="0" rIns="0">
            <a:spAutoFit/>
          </a:bodyPr>
          <a:lstStyle/>
          <a:p>
            <a:pPr algn="ctr">
              <a:lnSpc>
                <a:spcPts val="3357"/>
              </a:lnSpc>
              <a:spcBef>
                <a:spcPct val="0"/>
              </a:spcBef>
            </a:pPr>
            <a:r>
              <a:rPr lang="en-US" b="true" sz="2799">
                <a:solidFill>
                  <a:srgbClr val="000000"/>
                </a:solidFill>
                <a:latin typeface="Times New Roman MT Bold"/>
                <a:ea typeface="Times New Roman MT Bold"/>
                <a:cs typeface="Times New Roman MT Bold"/>
                <a:sym typeface="Times New Roman MT Bold"/>
              </a:rPr>
              <a:t>Critical Findings</a:t>
            </a:r>
          </a:p>
          <a:p>
            <a:pPr algn="just">
              <a:lnSpc>
                <a:spcPts val="3357"/>
              </a:lnSpc>
              <a:spcBef>
                <a:spcPct val="0"/>
              </a:spcBef>
            </a:pPr>
            <a:r>
              <a:rPr lang="en-US" b="true" sz="2799">
                <a:solidFill>
                  <a:srgbClr val="000000"/>
                </a:solidFill>
                <a:latin typeface="Times New Roman MT Bold"/>
                <a:ea typeface="Times New Roman MT Bold"/>
                <a:cs typeface="Times New Roman MT Bold"/>
                <a:sym typeface="Times New Roman MT Bold"/>
              </a:rPr>
              <a:t>Commodity Leaders: </a:t>
            </a:r>
            <a:r>
              <a:rPr lang="en-US" sz="2799">
                <a:solidFill>
                  <a:srgbClr val="000000"/>
                </a:solidFill>
                <a:latin typeface="Times New Roman MT"/>
                <a:ea typeface="Times New Roman MT"/>
                <a:cs typeface="Times New Roman MT"/>
                <a:sym typeface="Times New Roman MT"/>
              </a:rPr>
              <a:t>Automotive diesel fuel, aviation turbine fuels, textiles, and agricultural products dominate export portfolios</a:t>
            </a:r>
          </a:p>
          <a:p>
            <a:pPr algn="just">
              <a:lnSpc>
                <a:spcPts val="3357"/>
              </a:lnSpc>
              <a:spcBef>
                <a:spcPct val="0"/>
              </a:spcBef>
            </a:pPr>
            <a:r>
              <a:rPr lang="en-US" b="true" sz="2799">
                <a:solidFill>
                  <a:srgbClr val="000000"/>
                </a:solidFill>
                <a:latin typeface="Times New Roman MT Bold"/>
                <a:ea typeface="Times New Roman MT Bold"/>
                <a:cs typeface="Times New Roman MT Bold"/>
                <a:sym typeface="Times New Roman MT Bold"/>
              </a:rPr>
              <a:t>Geographic Concentration: </a:t>
            </a:r>
            <a:r>
              <a:rPr lang="en-US" sz="2799">
                <a:solidFill>
                  <a:srgbClr val="000000"/>
                </a:solidFill>
                <a:latin typeface="Times New Roman MT"/>
                <a:ea typeface="Times New Roman MT"/>
                <a:cs typeface="Times New Roman MT"/>
                <a:sym typeface="Times New Roman MT"/>
              </a:rPr>
              <a:t>UK, Germany, and Albania represent top destinations by monetary value</a:t>
            </a:r>
          </a:p>
          <a:p>
            <a:pPr algn="just">
              <a:lnSpc>
                <a:spcPts val="3357"/>
              </a:lnSpc>
              <a:spcBef>
                <a:spcPct val="0"/>
              </a:spcBef>
            </a:pPr>
            <a:r>
              <a:rPr lang="en-US" b="true" sz="2799">
                <a:solidFill>
                  <a:srgbClr val="000000"/>
                </a:solidFill>
                <a:latin typeface="Times New Roman MT Bold"/>
                <a:ea typeface="Times New Roman MT Bold"/>
                <a:cs typeface="Times New Roman MT Bold"/>
                <a:sym typeface="Times New Roman MT Bold"/>
              </a:rPr>
              <a:t>Growth Trajectory: </a:t>
            </a:r>
            <a:r>
              <a:rPr lang="en-US" sz="2799">
                <a:solidFill>
                  <a:srgbClr val="000000"/>
                </a:solidFill>
                <a:latin typeface="Times New Roman MT"/>
                <a:ea typeface="Times New Roman MT"/>
                <a:cs typeface="Times New Roman MT"/>
                <a:sym typeface="Times New Roman MT"/>
              </a:rPr>
              <a:t>Clear upward trend in total export values indicates expanding European market opportunities</a:t>
            </a:r>
          </a:p>
          <a:p>
            <a:pPr algn="just">
              <a:lnSpc>
                <a:spcPts val="3357"/>
              </a:lnSpc>
              <a:spcBef>
                <a:spcPct val="0"/>
              </a:spcBef>
            </a:pPr>
            <a:r>
              <a:rPr lang="en-US" b="true" sz="2799">
                <a:solidFill>
                  <a:srgbClr val="000000"/>
                </a:solidFill>
                <a:latin typeface="Times New Roman MT Bold"/>
                <a:ea typeface="Times New Roman MT Bold"/>
                <a:cs typeface="Times New Roman MT Bold"/>
                <a:sym typeface="Times New Roman MT Bold"/>
              </a:rPr>
              <a:t>•Price Dynamics: </a:t>
            </a:r>
            <a:r>
              <a:rPr lang="en-US" sz="2799">
                <a:solidFill>
                  <a:srgbClr val="000000"/>
                </a:solidFill>
                <a:latin typeface="Times New Roman MT"/>
                <a:ea typeface="Times New Roman MT"/>
                <a:cs typeface="Times New Roman MT"/>
                <a:sym typeface="Times New Roman MT"/>
              </a:rPr>
              <a:t>Significant unit price variations across countries suggest opportunities for market-specific pricing strategies</a:t>
            </a:r>
          </a:p>
          <a:p>
            <a:pPr algn="ctr">
              <a:lnSpc>
                <a:spcPts val="3359"/>
              </a:lnSpc>
              <a:spcBef>
                <a:spcPct val="0"/>
              </a:spcBef>
            </a:pPr>
          </a:p>
        </p:txBody>
      </p:sp>
      <p:sp>
        <p:nvSpPr>
          <p:cNvPr name="TextBox 14" id="14"/>
          <p:cNvSpPr txBox="true"/>
          <p:nvPr/>
        </p:nvSpPr>
        <p:spPr>
          <a:xfrm rot="0">
            <a:off x="9144000" y="2591661"/>
            <a:ext cx="7813878" cy="5924758"/>
          </a:xfrm>
          <a:prstGeom prst="rect">
            <a:avLst/>
          </a:prstGeom>
        </p:spPr>
        <p:txBody>
          <a:bodyPr anchor="t" rtlCol="false" tIns="0" lIns="0" bIns="0" rIns="0">
            <a:spAutoFit/>
          </a:bodyPr>
          <a:lstStyle/>
          <a:p>
            <a:pPr algn="ctr">
              <a:lnSpc>
                <a:spcPts val="3357"/>
              </a:lnSpc>
              <a:spcBef>
                <a:spcPct val="0"/>
              </a:spcBef>
            </a:pPr>
            <a:r>
              <a:rPr lang="en-US" b="true" sz="2799">
                <a:solidFill>
                  <a:srgbClr val="000000"/>
                </a:solidFill>
                <a:latin typeface="Times New Roman MT Bold"/>
                <a:ea typeface="Times New Roman MT Bold"/>
                <a:cs typeface="Times New Roman MT Bold"/>
                <a:sym typeface="Times New Roman MT Bold"/>
              </a:rPr>
              <a:t>St</a:t>
            </a:r>
            <a:r>
              <a:rPr lang="en-US" b="true" sz="2799">
                <a:solidFill>
                  <a:srgbClr val="000000"/>
                </a:solidFill>
                <a:latin typeface="Times New Roman MT Bold"/>
                <a:ea typeface="Times New Roman MT Bold"/>
                <a:cs typeface="Times New Roman MT Bold"/>
                <a:sym typeface="Times New Roman MT Bold"/>
              </a:rPr>
              <a:t>rategic Actions</a:t>
            </a:r>
          </a:p>
          <a:p>
            <a:pPr algn="just" marL="604519" indent="-302260" lvl="1">
              <a:lnSpc>
                <a:spcPts val="3357"/>
              </a:lnSpc>
              <a:buFont typeface="Arial"/>
              <a:buChar char="•"/>
            </a:pPr>
            <a:r>
              <a:rPr lang="en-US" b="true" sz="2799">
                <a:solidFill>
                  <a:srgbClr val="000000"/>
                </a:solidFill>
                <a:latin typeface="Times New Roman MT Bold"/>
                <a:ea typeface="Times New Roman MT Bold"/>
                <a:cs typeface="Times New Roman MT Bold"/>
                <a:sym typeface="Times New Roman MT Bold"/>
              </a:rPr>
              <a:t>Prioritize High-Value Markets: </a:t>
            </a:r>
            <a:r>
              <a:rPr lang="en-US" sz="2799">
                <a:solidFill>
                  <a:srgbClr val="000000"/>
                </a:solidFill>
                <a:latin typeface="Times New Roman MT"/>
                <a:ea typeface="Times New Roman MT"/>
                <a:cs typeface="Times New Roman MT"/>
                <a:sym typeface="Times New Roman MT"/>
              </a:rPr>
              <a:t>Strengthen relationships with UK and Germany while exploring emerging European markets</a:t>
            </a:r>
          </a:p>
          <a:p>
            <a:pPr algn="just" marL="604519" indent="-302260" lvl="1">
              <a:lnSpc>
                <a:spcPts val="3357"/>
              </a:lnSpc>
              <a:buFont typeface="Arial"/>
              <a:buChar char="•"/>
            </a:pPr>
            <a:r>
              <a:rPr lang="en-US" b="true" sz="2799">
                <a:solidFill>
                  <a:srgbClr val="000000"/>
                </a:solidFill>
                <a:latin typeface="Times New Roman MT Bold"/>
                <a:ea typeface="Times New Roman MT Bold"/>
                <a:cs typeface="Times New Roman MT Bold"/>
                <a:sym typeface="Times New Roman MT Bold"/>
              </a:rPr>
              <a:t>Diversify Portfolio: </a:t>
            </a:r>
            <a:r>
              <a:rPr lang="en-US" sz="2799">
                <a:solidFill>
                  <a:srgbClr val="000000"/>
                </a:solidFill>
                <a:latin typeface="Times New Roman MT"/>
                <a:ea typeface="Times New Roman MT"/>
                <a:cs typeface="Times New Roman MT"/>
                <a:sym typeface="Times New Roman MT"/>
              </a:rPr>
              <a:t>Expand beyond fuels and textiles into electronics, machinery, and medical equipment sectors</a:t>
            </a:r>
          </a:p>
          <a:p>
            <a:pPr algn="just" marL="604519" indent="-302260" lvl="1">
              <a:lnSpc>
                <a:spcPts val="3357"/>
              </a:lnSpc>
              <a:buFont typeface="Arial"/>
              <a:buChar char="•"/>
            </a:pPr>
            <a:r>
              <a:rPr lang="en-US" b="true" sz="2799">
                <a:solidFill>
                  <a:srgbClr val="000000"/>
                </a:solidFill>
                <a:latin typeface="Times New Roman MT Bold"/>
                <a:ea typeface="Times New Roman MT Bold"/>
                <a:cs typeface="Times New Roman MT Bold"/>
                <a:sym typeface="Times New Roman MT Bold"/>
              </a:rPr>
              <a:t>Leverage Predictive Analytics: </a:t>
            </a:r>
            <a:r>
              <a:rPr lang="en-US" sz="2799">
                <a:solidFill>
                  <a:srgbClr val="000000"/>
                </a:solidFill>
                <a:latin typeface="Times New Roman MT"/>
                <a:ea typeface="Times New Roman MT"/>
                <a:cs typeface="Times New Roman MT"/>
                <a:sym typeface="Times New Roman MT"/>
              </a:rPr>
              <a:t>Deploy forecasting models for demand prediction and supply chain optimization</a:t>
            </a:r>
          </a:p>
          <a:p>
            <a:pPr algn="just" marL="604519" indent="-302260" lvl="1">
              <a:lnSpc>
                <a:spcPts val="3357"/>
              </a:lnSpc>
              <a:buFont typeface="Arial"/>
              <a:buChar char="•"/>
            </a:pPr>
            <a:r>
              <a:rPr lang="en-US" b="true" sz="2799">
                <a:solidFill>
                  <a:srgbClr val="000000"/>
                </a:solidFill>
                <a:latin typeface="Times New Roman MT Bold"/>
                <a:ea typeface="Times New Roman MT Bold"/>
                <a:cs typeface="Times New Roman MT Bold"/>
                <a:sym typeface="Times New Roman MT Bold"/>
              </a:rPr>
              <a:t>Segment-Specific Strategies: </a:t>
            </a:r>
            <a:r>
              <a:rPr lang="en-US" sz="2799">
                <a:solidFill>
                  <a:srgbClr val="000000"/>
                </a:solidFill>
                <a:latin typeface="Times New Roman MT"/>
                <a:ea typeface="Times New Roman MT"/>
                <a:cs typeface="Times New Roman MT"/>
                <a:sym typeface="Times New Roman MT"/>
              </a:rPr>
              <a:t>Develop tailored approaches for each commodity cluster identified through K-Means analysis</a:t>
            </a:r>
          </a:p>
          <a:p>
            <a:pPr algn="just">
              <a:lnSpc>
                <a:spcPts val="335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48" y="9574476"/>
            <a:ext cx="18288000" cy="714375"/>
          </a:xfrm>
          <a:custGeom>
            <a:avLst/>
            <a:gdLst/>
            <a:ahLst/>
            <a:cxnLst/>
            <a:rect r="r" b="b" t="t" l="l"/>
            <a:pathLst>
              <a:path h="714375" w="18288000">
                <a:moveTo>
                  <a:pt x="0" y="0"/>
                </a:moveTo>
                <a:lnTo>
                  <a:pt x="18288000" y="0"/>
                </a:lnTo>
                <a:lnTo>
                  <a:pt x="18288000" y="714375"/>
                </a:lnTo>
                <a:lnTo>
                  <a:pt x="0" y="714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9372" y="9735822"/>
            <a:ext cx="6371483" cy="410199"/>
          </a:xfrm>
          <a:custGeom>
            <a:avLst/>
            <a:gdLst/>
            <a:ahLst/>
            <a:cxnLst/>
            <a:rect r="r" b="b" t="t" l="l"/>
            <a:pathLst>
              <a:path h="410199" w="6371483">
                <a:moveTo>
                  <a:pt x="0" y="0"/>
                </a:moveTo>
                <a:lnTo>
                  <a:pt x="6371483" y="0"/>
                </a:lnTo>
                <a:lnTo>
                  <a:pt x="6371483" y="410199"/>
                </a:lnTo>
                <a:lnTo>
                  <a:pt x="0" y="410199"/>
                </a:lnTo>
                <a:lnTo>
                  <a:pt x="0" y="0"/>
                </a:lnTo>
                <a:close/>
              </a:path>
            </a:pathLst>
          </a:custGeom>
          <a:blipFill>
            <a:blip r:embed="rId4">
              <a:extLst>
                <a:ext uri="{96DAC541-7B7A-43D3-8B79-37D633B846F1}">
                  <asvg:svgBlip xmlns:asvg="http://schemas.microsoft.com/office/drawing/2016/SVG/main" r:embed="rId5"/>
                </a:ext>
              </a:extLst>
            </a:blip>
            <a:stretch>
              <a:fillRect l="0" t="-1079" r="0" b="-1079"/>
            </a:stretch>
          </a:blipFill>
        </p:spPr>
      </p:sp>
      <p:sp>
        <p:nvSpPr>
          <p:cNvPr name="Freeform 4" id="4"/>
          <p:cNvSpPr/>
          <p:nvPr/>
        </p:nvSpPr>
        <p:spPr>
          <a:xfrm flipH="false" flipV="false" rot="0">
            <a:off x="0" y="-144661"/>
            <a:ext cx="18288000" cy="9719137"/>
          </a:xfrm>
          <a:custGeom>
            <a:avLst/>
            <a:gdLst/>
            <a:ahLst/>
            <a:cxnLst/>
            <a:rect r="r" b="b" t="t" l="l"/>
            <a:pathLst>
              <a:path h="9719137" w="18288000">
                <a:moveTo>
                  <a:pt x="0" y="0"/>
                </a:moveTo>
                <a:lnTo>
                  <a:pt x="18288000" y="0"/>
                </a:lnTo>
                <a:lnTo>
                  <a:pt x="18288000" y="9719137"/>
                </a:lnTo>
                <a:lnTo>
                  <a:pt x="0" y="9719137"/>
                </a:lnTo>
                <a:lnTo>
                  <a:pt x="0" y="0"/>
                </a:lnTo>
                <a:close/>
              </a:path>
            </a:pathLst>
          </a:custGeom>
          <a:blipFill>
            <a:blip r:embed="rId6">
              <a:extLst>
                <a:ext uri="{96DAC541-7B7A-43D3-8B79-37D633B846F1}">
                  <asvg:svgBlip xmlns:asvg="http://schemas.microsoft.com/office/drawing/2016/SVG/main" r:embed="rId7"/>
                </a:ext>
              </a:extLst>
            </a:blip>
            <a:stretch>
              <a:fillRect l="0" t="-30" r="0" b="-30"/>
            </a:stretch>
          </a:blipFill>
        </p:spPr>
      </p:sp>
      <p:grpSp>
        <p:nvGrpSpPr>
          <p:cNvPr name="Group 5" id="5"/>
          <p:cNvGrpSpPr/>
          <p:nvPr/>
        </p:nvGrpSpPr>
        <p:grpSpPr>
          <a:xfrm rot="0">
            <a:off x="1028700" y="675350"/>
            <a:ext cx="9260912" cy="1571795"/>
            <a:chOff x="0" y="0"/>
            <a:chExt cx="12347883" cy="2095727"/>
          </a:xfrm>
        </p:grpSpPr>
        <p:sp>
          <p:nvSpPr>
            <p:cNvPr name="Freeform 6" id="6"/>
            <p:cNvSpPr/>
            <p:nvPr/>
          </p:nvSpPr>
          <p:spPr>
            <a:xfrm flipH="false" flipV="false" rot="0">
              <a:off x="0" y="0"/>
              <a:ext cx="12347883" cy="2095727"/>
            </a:xfrm>
            <a:custGeom>
              <a:avLst/>
              <a:gdLst/>
              <a:ahLst/>
              <a:cxnLst/>
              <a:rect r="r" b="b" t="t" l="l"/>
              <a:pathLst>
                <a:path h="2095727" w="12347883">
                  <a:moveTo>
                    <a:pt x="0" y="0"/>
                  </a:moveTo>
                  <a:lnTo>
                    <a:pt x="12347883" y="0"/>
                  </a:lnTo>
                  <a:lnTo>
                    <a:pt x="12347883" y="2095727"/>
                  </a:lnTo>
                  <a:lnTo>
                    <a:pt x="0" y="2095727"/>
                  </a:lnTo>
                  <a:close/>
                </a:path>
              </a:pathLst>
            </a:custGeom>
            <a:solidFill>
              <a:srgbClr val="000000">
                <a:alpha val="0"/>
              </a:srgbClr>
            </a:solidFill>
          </p:spPr>
        </p:sp>
        <p:sp>
          <p:nvSpPr>
            <p:cNvPr name="TextBox 7" id="7"/>
            <p:cNvSpPr txBox="true"/>
            <p:nvPr/>
          </p:nvSpPr>
          <p:spPr>
            <a:xfrm>
              <a:off x="0" y="-95250"/>
              <a:ext cx="12347883" cy="2190977"/>
            </a:xfrm>
            <a:prstGeom prst="rect">
              <a:avLst/>
            </a:prstGeom>
          </p:spPr>
          <p:txBody>
            <a:bodyPr anchor="ctr" rtlCol="false" tIns="0" lIns="0" bIns="0" rIns="0"/>
            <a:lstStyle/>
            <a:p>
              <a:pPr algn="l">
                <a:lnSpc>
                  <a:spcPts val="5517"/>
                </a:lnSpc>
              </a:pPr>
              <a:r>
                <a:rPr lang="en-US" sz="4599" b="true">
                  <a:solidFill>
                    <a:srgbClr val="595959"/>
                  </a:solidFill>
                  <a:latin typeface="Times New Roman MT Bold"/>
                  <a:ea typeface="Times New Roman MT Bold"/>
                  <a:cs typeface="Times New Roman MT Bold"/>
                  <a:sym typeface="Times New Roman MT Bold"/>
                </a:rPr>
                <a:t>Tech-Stack</a:t>
              </a:r>
            </a:p>
          </p:txBody>
        </p:sp>
      </p:grpSp>
      <p:sp>
        <p:nvSpPr>
          <p:cNvPr name="Freeform 8" id="8"/>
          <p:cNvSpPr/>
          <p:nvPr/>
        </p:nvSpPr>
        <p:spPr>
          <a:xfrm flipH="false" flipV="false" rot="0">
            <a:off x="623431" y="1461248"/>
            <a:ext cx="1070106" cy="1039200"/>
          </a:xfrm>
          <a:custGeom>
            <a:avLst/>
            <a:gdLst/>
            <a:ahLst/>
            <a:cxnLst/>
            <a:rect r="r" b="b" t="t" l="l"/>
            <a:pathLst>
              <a:path h="1039200" w="1070106">
                <a:moveTo>
                  <a:pt x="0" y="0"/>
                </a:moveTo>
                <a:lnTo>
                  <a:pt x="1070106" y="0"/>
                </a:lnTo>
                <a:lnTo>
                  <a:pt x="1070106" y="1039200"/>
                </a:lnTo>
                <a:lnTo>
                  <a:pt x="0" y="1039200"/>
                </a:lnTo>
                <a:lnTo>
                  <a:pt x="0" y="0"/>
                </a:lnTo>
                <a:close/>
              </a:path>
            </a:pathLst>
          </a:custGeom>
          <a:blipFill>
            <a:blip r:embed="rId8">
              <a:extLst>
                <a:ext uri="{96DAC541-7B7A-43D3-8B79-37D633B846F1}">
                  <asvg:svgBlip xmlns:asvg="http://schemas.microsoft.com/office/drawing/2016/SVG/main" r:embed="rId9"/>
                </a:ext>
              </a:extLst>
            </a:blip>
            <a:stretch>
              <a:fillRect l="0" t="-120" r="0" b="-120"/>
            </a:stretch>
          </a:blipFill>
        </p:spPr>
      </p:sp>
      <p:grpSp>
        <p:nvGrpSpPr>
          <p:cNvPr name="Group 9" id="9"/>
          <p:cNvGrpSpPr/>
          <p:nvPr/>
        </p:nvGrpSpPr>
        <p:grpSpPr>
          <a:xfrm rot="0">
            <a:off x="44380" y="52412"/>
            <a:ext cx="2014538" cy="862584"/>
            <a:chOff x="0" y="0"/>
            <a:chExt cx="2686050" cy="1150112"/>
          </a:xfrm>
        </p:grpSpPr>
        <p:sp>
          <p:nvSpPr>
            <p:cNvPr name="Freeform 10" id="10"/>
            <p:cNvSpPr/>
            <p:nvPr/>
          </p:nvSpPr>
          <p:spPr>
            <a:xfrm flipH="false" flipV="false" rot="0">
              <a:off x="0" y="0"/>
              <a:ext cx="2686050" cy="1150112"/>
            </a:xfrm>
            <a:custGeom>
              <a:avLst/>
              <a:gdLst/>
              <a:ahLst/>
              <a:cxnLst/>
              <a:rect r="r" b="b" t="t" l="l"/>
              <a:pathLst>
                <a:path h="1150112" w="2686050">
                  <a:moveTo>
                    <a:pt x="0" y="0"/>
                  </a:moveTo>
                  <a:lnTo>
                    <a:pt x="2686050" y="0"/>
                  </a:lnTo>
                  <a:lnTo>
                    <a:pt x="2686050" y="1150112"/>
                  </a:lnTo>
                  <a:lnTo>
                    <a:pt x="0" y="1150112"/>
                  </a:lnTo>
                  <a:lnTo>
                    <a:pt x="0" y="0"/>
                  </a:lnTo>
                  <a:close/>
                </a:path>
              </a:pathLst>
            </a:custGeom>
            <a:blipFill>
              <a:blip r:embed="rId10"/>
              <a:stretch>
                <a:fillRect l="0" t="-45" r="0" b="-45"/>
              </a:stretch>
            </a:blipFill>
          </p:spPr>
        </p:sp>
      </p:grpSp>
      <p:grpSp>
        <p:nvGrpSpPr>
          <p:cNvPr name="Group 11" id="11"/>
          <p:cNvGrpSpPr/>
          <p:nvPr/>
        </p:nvGrpSpPr>
        <p:grpSpPr>
          <a:xfrm rot="0">
            <a:off x="13887450" y="9610725"/>
            <a:ext cx="4114800" cy="604838"/>
            <a:chOff x="0" y="0"/>
            <a:chExt cx="5486400" cy="806451"/>
          </a:xfrm>
        </p:grpSpPr>
        <p:sp>
          <p:nvSpPr>
            <p:cNvPr name="Freeform 12" id="12"/>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13" id="13"/>
            <p:cNvSpPr txBox="true"/>
            <p:nvPr/>
          </p:nvSpPr>
          <p:spPr>
            <a:xfrm>
              <a:off x="0" y="-38100"/>
              <a:ext cx="5486400" cy="844551"/>
            </a:xfrm>
            <a:prstGeom prst="rect">
              <a:avLst/>
            </a:prstGeom>
          </p:spPr>
          <p:txBody>
            <a:bodyPr anchor="ctr" rtlCol="false" tIns="0" lIns="0" bIns="0" rIns="0"/>
            <a:lstStyle/>
            <a:p>
              <a:pPr algn="r">
                <a:lnSpc>
                  <a:spcPts val="2160"/>
                </a:lnSpc>
              </a:pPr>
              <a:r>
                <a:rPr lang="en-US" sz="1800" b="true">
                  <a:solidFill>
                    <a:srgbClr val="FFFFFF"/>
                  </a:solidFill>
                  <a:latin typeface="Calibri (MS) Bold"/>
                  <a:ea typeface="Calibri (MS) Bold"/>
                  <a:cs typeface="Calibri (MS) Bold"/>
                  <a:sym typeface="Calibri (MS) Bold"/>
                </a:rPr>
                <a:t>10</a:t>
              </a:r>
            </a:p>
          </p:txBody>
        </p:sp>
      </p:grpSp>
      <p:sp>
        <p:nvSpPr>
          <p:cNvPr name="TextBox 14" id="14"/>
          <p:cNvSpPr txBox="true"/>
          <p:nvPr/>
        </p:nvSpPr>
        <p:spPr>
          <a:xfrm rot="0">
            <a:off x="1492481" y="2180471"/>
            <a:ext cx="13622303" cy="5686425"/>
          </a:xfrm>
          <a:prstGeom prst="rect">
            <a:avLst/>
          </a:prstGeom>
        </p:spPr>
        <p:txBody>
          <a:bodyPr anchor="t" rtlCol="false" tIns="0" lIns="0" bIns="0" rIns="0">
            <a:spAutoFit/>
          </a:bodyPr>
          <a:lstStyle/>
          <a:p>
            <a:pPr algn="just" marL="807467" indent="-403733" lvl="1">
              <a:lnSpc>
                <a:spcPts val="4488"/>
              </a:lnSpc>
              <a:buFont typeface="Arial"/>
              <a:buChar char="•"/>
            </a:pPr>
            <a:r>
              <a:rPr lang="en-US" b="true" sz="3740">
                <a:solidFill>
                  <a:srgbClr val="000000"/>
                </a:solidFill>
                <a:latin typeface="Calibri (MS) Bold"/>
                <a:ea typeface="Calibri (MS) Bold"/>
                <a:cs typeface="Calibri (MS) Bold"/>
                <a:sym typeface="Calibri (MS) Bold"/>
              </a:rPr>
              <a:t>NumPy:</a:t>
            </a:r>
            <a:r>
              <a:rPr lang="en-US" sz="3740">
                <a:solidFill>
                  <a:srgbClr val="000000"/>
                </a:solidFill>
                <a:latin typeface="Calibri (MS)"/>
                <a:ea typeface="Calibri (MS)"/>
                <a:cs typeface="Calibri (MS)"/>
                <a:sym typeface="Calibri (MS)"/>
              </a:rPr>
              <a:t> Numerical computations and matrix operations</a:t>
            </a:r>
          </a:p>
          <a:p>
            <a:pPr algn="just" marL="807467" indent="-403733" lvl="1">
              <a:lnSpc>
                <a:spcPts val="4488"/>
              </a:lnSpc>
              <a:buFont typeface="Arial"/>
              <a:buChar char="•"/>
            </a:pPr>
            <a:r>
              <a:rPr lang="en-US" b="true" sz="3740">
                <a:solidFill>
                  <a:srgbClr val="000000"/>
                </a:solidFill>
                <a:latin typeface="Calibri (MS) Bold"/>
                <a:ea typeface="Calibri (MS) Bold"/>
                <a:cs typeface="Calibri (MS) Bold"/>
                <a:sym typeface="Calibri (MS) Bold"/>
              </a:rPr>
              <a:t>Pandas:</a:t>
            </a:r>
            <a:r>
              <a:rPr lang="en-US" sz="3740">
                <a:solidFill>
                  <a:srgbClr val="000000"/>
                </a:solidFill>
                <a:latin typeface="Calibri (MS)"/>
                <a:ea typeface="Calibri (MS)"/>
                <a:cs typeface="Calibri (MS)"/>
                <a:sym typeface="Calibri (MS)"/>
              </a:rPr>
              <a:t> Data manipulation and analysis</a:t>
            </a:r>
          </a:p>
          <a:p>
            <a:pPr algn="just" marL="807467" indent="-403733" lvl="1">
              <a:lnSpc>
                <a:spcPts val="4488"/>
              </a:lnSpc>
              <a:buFont typeface="Arial"/>
              <a:buChar char="•"/>
            </a:pPr>
            <a:r>
              <a:rPr lang="en-US" b="true" sz="3740">
                <a:solidFill>
                  <a:srgbClr val="000000"/>
                </a:solidFill>
                <a:latin typeface="Calibri (MS) Bold"/>
                <a:ea typeface="Calibri (MS) Bold"/>
                <a:cs typeface="Calibri (MS) Bold"/>
                <a:sym typeface="Calibri (MS) Bold"/>
              </a:rPr>
              <a:t>Scikit-learn:</a:t>
            </a:r>
            <a:r>
              <a:rPr lang="en-US" sz="3740">
                <a:solidFill>
                  <a:srgbClr val="000000"/>
                </a:solidFill>
                <a:latin typeface="Calibri (MS)"/>
                <a:ea typeface="Calibri (MS)"/>
                <a:cs typeface="Calibri (MS)"/>
                <a:sym typeface="Calibri (MS)"/>
              </a:rPr>
              <a:t> Machine learning models (Regression, Classification, Clustering)</a:t>
            </a:r>
          </a:p>
          <a:p>
            <a:pPr algn="just" marL="807467" indent="-403733" lvl="1">
              <a:lnSpc>
                <a:spcPts val="4488"/>
              </a:lnSpc>
              <a:buFont typeface="Arial"/>
              <a:buChar char="•"/>
            </a:pPr>
            <a:r>
              <a:rPr lang="en-US" b="true" sz="3740">
                <a:solidFill>
                  <a:srgbClr val="000000"/>
                </a:solidFill>
                <a:latin typeface="Calibri (MS) Bold"/>
                <a:ea typeface="Calibri (MS) Bold"/>
                <a:cs typeface="Calibri (MS) Bold"/>
                <a:sym typeface="Calibri (MS) Bold"/>
              </a:rPr>
              <a:t>Seaborn: </a:t>
            </a:r>
            <a:r>
              <a:rPr lang="en-US" sz="3740">
                <a:solidFill>
                  <a:srgbClr val="000000"/>
                </a:solidFill>
                <a:latin typeface="Calibri (MS)"/>
                <a:ea typeface="Calibri (MS)"/>
                <a:cs typeface="Calibri (MS)"/>
                <a:sym typeface="Calibri (MS)"/>
              </a:rPr>
              <a:t>Statistical data visualization</a:t>
            </a:r>
          </a:p>
          <a:p>
            <a:pPr algn="just" marL="807467" indent="-403733" lvl="1">
              <a:lnSpc>
                <a:spcPts val="4488"/>
              </a:lnSpc>
              <a:buFont typeface="Arial"/>
              <a:buChar char="•"/>
            </a:pPr>
            <a:r>
              <a:rPr lang="en-US" b="true" sz="3740">
                <a:solidFill>
                  <a:srgbClr val="000000"/>
                </a:solidFill>
                <a:latin typeface="Calibri (MS) Bold"/>
                <a:ea typeface="Calibri (MS) Bold"/>
                <a:cs typeface="Calibri (MS) Bold"/>
                <a:sym typeface="Calibri (MS) Bold"/>
              </a:rPr>
              <a:t>Matplotlib:</a:t>
            </a:r>
            <a:r>
              <a:rPr lang="en-US" sz="3740">
                <a:solidFill>
                  <a:srgbClr val="000000"/>
                </a:solidFill>
                <a:latin typeface="Calibri (MS)"/>
                <a:ea typeface="Calibri (MS)"/>
                <a:cs typeface="Calibri (MS)"/>
                <a:sym typeface="Calibri (MS)"/>
              </a:rPr>
              <a:t> Data plotting and graphing</a:t>
            </a:r>
          </a:p>
          <a:p>
            <a:pPr algn="just" marL="807467" indent="-403733" lvl="1">
              <a:lnSpc>
                <a:spcPts val="4488"/>
              </a:lnSpc>
              <a:buFont typeface="Arial"/>
              <a:buChar char="•"/>
            </a:pPr>
            <a:r>
              <a:rPr lang="en-US" b="true" sz="3740">
                <a:solidFill>
                  <a:srgbClr val="000000"/>
                </a:solidFill>
                <a:latin typeface="Calibri (MS) Bold"/>
                <a:ea typeface="Calibri (MS) Bold"/>
                <a:cs typeface="Calibri (MS) Bold"/>
                <a:sym typeface="Calibri (MS) Bold"/>
              </a:rPr>
              <a:t>Plotly:</a:t>
            </a:r>
            <a:r>
              <a:rPr lang="en-US" sz="3740">
                <a:solidFill>
                  <a:srgbClr val="000000"/>
                </a:solidFill>
                <a:latin typeface="Calibri (MS)"/>
                <a:ea typeface="Calibri (MS)"/>
                <a:cs typeface="Calibri (MS)"/>
                <a:sym typeface="Calibri (MS)"/>
              </a:rPr>
              <a:t> Interactive and dynamic visualizations</a:t>
            </a:r>
          </a:p>
          <a:p>
            <a:pPr algn="just" marL="807467" indent="-403733" lvl="1">
              <a:lnSpc>
                <a:spcPts val="4488"/>
              </a:lnSpc>
              <a:buFont typeface="Arial"/>
              <a:buChar char="•"/>
            </a:pPr>
            <a:r>
              <a:rPr lang="en-US" b="true" sz="3740">
                <a:solidFill>
                  <a:srgbClr val="000000"/>
                </a:solidFill>
                <a:latin typeface="Calibri (MS) Bold"/>
                <a:ea typeface="Calibri (MS) Bold"/>
                <a:cs typeface="Calibri (MS) Bold"/>
                <a:sym typeface="Calibri (MS) Bold"/>
              </a:rPr>
              <a:t>Streamlit: </a:t>
            </a:r>
            <a:r>
              <a:rPr lang="en-US" sz="3740">
                <a:solidFill>
                  <a:srgbClr val="000000"/>
                </a:solidFill>
                <a:latin typeface="Calibri (MS)"/>
                <a:ea typeface="Calibri (MS)"/>
                <a:cs typeface="Calibri (MS)"/>
                <a:sym typeface="Calibri (MS)"/>
              </a:rPr>
              <a:t>Building interactive data dashboards</a:t>
            </a:r>
          </a:p>
          <a:p>
            <a:pPr algn="just" marL="807467" indent="-403733" lvl="1">
              <a:lnSpc>
                <a:spcPts val="4488"/>
              </a:lnSpc>
              <a:buFont typeface="Arial"/>
              <a:buChar char="•"/>
            </a:pPr>
            <a:r>
              <a:rPr lang="en-US" b="true" sz="3740">
                <a:solidFill>
                  <a:srgbClr val="000000"/>
                </a:solidFill>
                <a:latin typeface="Calibri (MS) Bold"/>
                <a:ea typeface="Calibri (MS) Bold"/>
                <a:cs typeface="Calibri (MS) Bold"/>
                <a:sym typeface="Calibri (MS) Bold"/>
              </a:rPr>
              <a:t>Warnings:</a:t>
            </a:r>
            <a:r>
              <a:rPr lang="en-US" sz="3740">
                <a:solidFill>
                  <a:srgbClr val="000000"/>
                </a:solidFill>
                <a:latin typeface="Calibri (MS)"/>
                <a:ea typeface="Calibri (MS)"/>
                <a:cs typeface="Calibri (MS)"/>
                <a:sym typeface="Calibri (MS)"/>
              </a:rPr>
              <a:t> Manage and suppress warnings</a:t>
            </a:r>
          </a:p>
          <a:p>
            <a:pPr algn="just" marL="807467" indent="-403733" lvl="1">
              <a:lnSpc>
                <a:spcPts val="4488"/>
              </a:lnSpc>
              <a:buFont typeface="Arial"/>
              <a:buChar char="•"/>
            </a:pPr>
            <a:r>
              <a:rPr lang="en-US" b="true" sz="3740">
                <a:solidFill>
                  <a:srgbClr val="000000"/>
                </a:solidFill>
                <a:latin typeface="Calibri (MS) Bold"/>
                <a:ea typeface="Calibri (MS) Bold"/>
                <a:cs typeface="Calibri (MS) Bold"/>
                <a:sym typeface="Calibri (MS) Bold"/>
              </a:rPr>
              <a:t>Datetime (via pandas):</a:t>
            </a:r>
            <a:r>
              <a:rPr lang="en-US" sz="3740">
                <a:solidFill>
                  <a:srgbClr val="000000"/>
                </a:solidFill>
                <a:latin typeface="Calibri (MS)"/>
                <a:ea typeface="Calibri (MS)"/>
                <a:cs typeface="Calibri (MS)"/>
                <a:sym typeface="Calibri (MS)"/>
              </a:rPr>
              <a:t> Handle and process time-series data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48" y="9574476"/>
            <a:ext cx="18288000" cy="714375"/>
          </a:xfrm>
          <a:custGeom>
            <a:avLst/>
            <a:gdLst/>
            <a:ahLst/>
            <a:cxnLst/>
            <a:rect r="r" b="b" t="t" l="l"/>
            <a:pathLst>
              <a:path h="714375" w="18288000">
                <a:moveTo>
                  <a:pt x="0" y="0"/>
                </a:moveTo>
                <a:lnTo>
                  <a:pt x="18288000" y="0"/>
                </a:lnTo>
                <a:lnTo>
                  <a:pt x="18288000" y="714375"/>
                </a:lnTo>
                <a:lnTo>
                  <a:pt x="0" y="714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9372" y="9735822"/>
            <a:ext cx="6371483" cy="410199"/>
          </a:xfrm>
          <a:custGeom>
            <a:avLst/>
            <a:gdLst/>
            <a:ahLst/>
            <a:cxnLst/>
            <a:rect r="r" b="b" t="t" l="l"/>
            <a:pathLst>
              <a:path h="410199" w="6371483">
                <a:moveTo>
                  <a:pt x="0" y="0"/>
                </a:moveTo>
                <a:lnTo>
                  <a:pt x="6371483" y="0"/>
                </a:lnTo>
                <a:lnTo>
                  <a:pt x="6371483" y="410199"/>
                </a:lnTo>
                <a:lnTo>
                  <a:pt x="0" y="410199"/>
                </a:lnTo>
                <a:lnTo>
                  <a:pt x="0" y="0"/>
                </a:lnTo>
                <a:close/>
              </a:path>
            </a:pathLst>
          </a:custGeom>
          <a:blipFill>
            <a:blip r:embed="rId4">
              <a:extLst>
                <a:ext uri="{96DAC541-7B7A-43D3-8B79-37D633B846F1}">
                  <asvg:svgBlip xmlns:asvg="http://schemas.microsoft.com/office/drawing/2016/SVG/main" r:embed="rId5"/>
                </a:ext>
              </a:extLst>
            </a:blip>
            <a:stretch>
              <a:fillRect l="0" t="-1079" r="0" b="-1079"/>
            </a:stretch>
          </a:blipFill>
        </p:spPr>
      </p:sp>
      <p:sp>
        <p:nvSpPr>
          <p:cNvPr name="Freeform 4" id="4"/>
          <p:cNvSpPr/>
          <p:nvPr/>
        </p:nvSpPr>
        <p:spPr>
          <a:xfrm flipH="false" flipV="false" rot="0">
            <a:off x="0" y="-144661"/>
            <a:ext cx="18288000" cy="9719137"/>
          </a:xfrm>
          <a:custGeom>
            <a:avLst/>
            <a:gdLst/>
            <a:ahLst/>
            <a:cxnLst/>
            <a:rect r="r" b="b" t="t" l="l"/>
            <a:pathLst>
              <a:path h="9719137" w="18288000">
                <a:moveTo>
                  <a:pt x="0" y="0"/>
                </a:moveTo>
                <a:lnTo>
                  <a:pt x="18288000" y="0"/>
                </a:lnTo>
                <a:lnTo>
                  <a:pt x="18288000" y="9719137"/>
                </a:lnTo>
                <a:lnTo>
                  <a:pt x="0" y="9719137"/>
                </a:lnTo>
                <a:lnTo>
                  <a:pt x="0" y="0"/>
                </a:lnTo>
                <a:close/>
              </a:path>
            </a:pathLst>
          </a:custGeom>
          <a:blipFill>
            <a:blip r:embed="rId6">
              <a:extLst>
                <a:ext uri="{96DAC541-7B7A-43D3-8B79-37D633B846F1}">
                  <asvg:svgBlip xmlns:asvg="http://schemas.microsoft.com/office/drawing/2016/SVG/main" r:embed="rId7"/>
                </a:ext>
              </a:extLst>
            </a:blip>
            <a:stretch>
              <a:fillRect l="0" t="-30" r="0" b="-30"/>
            </a:stretch>
          </a:blipFill>
        </p:spPr>
      </p:sp>
      <p:grpSp>
        <p:nvGrpSpPr>
          <p:cNvPr name="Group 5" id="5"/>
          <p:cNvGrpSpPr/>
          <p:nvPr/>
        </p:nvGrpSpPr>
        <p:grpSpPr>
          <a:xfrm rot="0">
            <a:off x="44380" y="52412"/>
            <a:ext cx="2014538" cy="862584"/>
            <a:chOff x="0" y="0"/>
            <a:chExt cx="2686050" cy="1150112"/>
          </a:xfrm>
        </p:grpSpPr>
        <p:sp>
          <p:nvSpPr>
            <p:cNvPr name="Freeform 6" id="6"/>
            <p:cNvSpPr/>
            <p:nvPr/>
          </p:nvSpPr>
          <p:spPr>
            <a:xfrm flipH="false" flipV="false" rot="0">
              <a:off x="0" y="0"/>
              <a:ext cx="2686050" cy="1150112"/>
            </a:xfrm>
            <a:custGeom>
              <a:avLst/>
              <a:gdLst/>
              <a:ahLst/>
              <a:cxnLst/>
              <a:rect r="r" b="b" t="t" l="l"/>
              <a:pathLst>
                <a:path h="1150112" w="2686050">
                  <a:moveTo>
                    <a:pt x="0" y="0"/>
                  </a:moveTo>
                  <a:lnTo>
                    <a:pt x="2686050" y="0"/>
                  </a:lnTo>
                  <a:lnTo>
                    <a:pt x="2686050" y="1150112"/>
                  </a:lnTo>
                  <a:lnTo>
                    <a:pt x="0" y="1150112"/>
                  </a:lnTo>
                  <a:lnTo>
                    <a:pt x="0" y="0"/>
                  </a:lnTo>
                  <a:close/>
                </a:path>
              </a:pathLst>
            </a:custGeom>
            <a:blipFill>
              <a:blip r:embed="rId8"/>
              <a:stretch>
                <a:fillRect l="0" t="-45" r="0" b="-45"/>
              </a:stretch>
            </a:blipFill>
          </p:spPr>
        </p:sp>
      </p:grpSp>
      <p:grpSp>
        <p:nvGrpSpPr>
          <p:cNvPr name="Group 7" id="7"/>
          <p:cNvGrpSpPr/>
          <p:nvPr/>
        </p:nvGrpSpPr>
        <p:grpSpPr>
          <a:xfrm rot="0">
            <a:off x="13887450" y="9610725"/>
            <a:ext cx="4114800" cy="535296"/>
            <a:chOff x="0" y="0"/>
            <a:chExt cx="5486400" cy="713728"/>
          </a:xfrm>
        </p:grpSpPr>
        <p:sp>
          <p:nvSpPr>
            <p:cNvPr name="Freeform 8" id="8"/>
            <p:cNvSpPr/>
            <p:nvPr/>
          </p:nvSpPr>
          <p:spPr>
            <a:xfrm flipH="false" flipV="false" rot="0">
              <a:off x="0" y="0"/>
              <a:ext cx="5486400" cy="713728"/>
            </a:xfrm>
            <a:custGeom>
              <a:avLst/>
              <a:gdLst/>
              <a:ahLst/>
              <a:cxnLst/>
              <a:rect r="r" b="b" t="t" l="l"/>
              <a:pathLst>
                <a:path h="713728" w="5486400">
                  <a:moveTo>
                    <a:pt x="0" y="0"/>
                  </a:moveTo>
                  <a:lnTo>
                    <a:pt x="5486400" y="0"/>
                  </a:lnTo>
                  <a:lnTo>
                    <a:pt x="5486400" y="713728"/>
                  </a:lnTo>
                  <a:lnTo>
                    <a:pt x="0" y="713728"/>
                  </a:lnTo>
                  <a:close/>
                </a:path>
              </a:pathLst>
            </a:custGeom>
            <a:solidFill>
              <a:srgbClr val="000000">
                <a:alpha val="0"/>
              </a:srgbClr>
            </a:solidFill>
          </p:spPr>
        </p:sp>
        <p:sp>
          <p:nvSpPr>
            <p:cNvPr name="TextBox 9" id="9"/>
            <p:cNvSpPr txBox="true"/>
            <p:nvPr/>
          </p:nvSpPr>
          <p:spPr>
            <a:xfrm>
              <a:off x="0" y="-38100"/>
              <a:ext cx="5486400" cy="751828"/>
            </a:xfrm>
            <a:prstGeom prst="rect">
              <a:avLst/>
            </a:prstGeom>
          </p:spPr>
          <p:txBody>
            <a:bodyPr anchor="ctr" rtlCol="false" tIns="0" lIns="0" bIns="0" rIns="0"/>
            <a:lstStyle/>
            <a:p>
              <a:pPr algn="r">
                <a:lnSpc>
                  <a:spcPts val="2160"/>
                </a:lnSpc>
              </a:pPr>
              <a:r>
                <a:rPr lang="en-US" sz="1800" b="true">
                  <a:solidFill>
                    <a:srgbClr val="FFFFFF"/>
                  </a:solidFill>
                  <a:latin typeface="Calibri (MS) Bold"/>
                  <a:ea typeface="Calibri (MS) Bold"/>
                  <a:cs typeface="Calibri (MS) Bold"/>
                  <a:sym typeface="Calibri (MS) Bold"/>
                </a:rPr>
                <a:t>11</a:t>
              </a:r>
            </a:p>
          </p:txBody>
        </p:sp>
      </p:grpSp>
      <p:sp>
        <p:nvSpPr>
          <p:cNvPr name="TextBox 10" id="10"/>
          <p:cNvSpPr txBox="true"/>
          <p:nvPr/>
        </p:nvSpPr>
        <p:spPr>
          <a:xfrm rot="0">
            <a:off x="6054993" y="3862387"/>
            <a:ext cx="6178015" cy="2038350"/>
          </a:xfrm>
          <a:prstGeom prst="rect">
            <a:avLst/>
          </a:prstGeom>
        </p:spPr>
        <p:txBody>
          <a:bodyPr anchor="t" rtlCol="false" tIns="0" lIns="0" bIns="0" rIns="0">
            <a:spAutoFit/>
          </a:bodyPr>
          <a:lstStyle/>
          <a:p>
            <a:pPr algn="ctr">
              <a:lnSpc>
                <a:spcPts val="11999"/>
              </a:lnSpc>
            </a:pPr>
            <a:r>
              <a:rPr lang="en-US" sz="9999" b="true">
                <a:solidFill>
                  <a:srgbClr val="000000"/>
                </a:solidFill>
                <a:latin typeface="Times New Roman MT Bold"/>
                <a:ea typeface="Times New Roman MT Bold"/>
                <a:cs typeface="Times New Roman MT Bold"/>
                <a:sym typeface="Times New Roman M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DAG3TB4_nzE</dc:identifier>
  <dcterms:modified xsi:type="dcterms:W3CDTF">2011-08-01T06:04:30Z</dcterms:modified>
  <cp:revision>1</cp:revision>
  <dc:title>Project Goals</dc:title>
</cp:coreProperties>
</file>